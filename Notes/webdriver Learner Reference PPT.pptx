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452" r:id="rId4"/>
    <p:sldId id="453" r:id="rId5"/>
    <p:sldId id="454" r:id="rId6"/>
    <p:sldId id="455" r:id="rId7"/>
    <p:sldId id="456" r:id="rId8"/>
    <p:sldId id="457" r:id="rId9"/>
    <p:sldId id="458" r:id="rId10"/>
    <p:sldId id="260" r:id="rId11"/>
    <p:sldId id="370" r:id="rId12"/>
    <p:sldId id="261" r:id="rId13"/>
    <p:sldId id="371" r:id="rId14"/>
    <p:sldId id="262" r:id="rId15"/>
    <p:sldId id="372" r:id="rId16"/>
    <p:sldId id="263" r:id="rId17"/>
    <p:sldId id="373" r:id="rId18"/>
    <p:sldId id="374" r:id="rId19"/>
    <p:sldId id="264" r:id="rId20"/>
    <p:sldId id="375" r:id="rId21"/>
    <p:sldId id="265" r:id="rId22"/>
    <p:sldId id="376" r:id="rId23"/>
    <p:sldId id="267" r:id="rId24"/>
    <p:sldId id="378" r:id="rId25"/>
    <p:sldId id="269" r:id="rId26"/>
    <p:sldId id="381" r:id="rId27"/>
    <p:sldId id="382" r:id="rId28"/>
    <p:sldId id="270" r:id="rId29"/>
    <p:sldId id="383" r:id="rId30"/>
    <p:sldId id="271" r:id="rId31"/>
    <p:sldId id="385" r:id="rId32"/>
    <p:sldId id="386" r:id="rId33"/>
    <p:sldId id="388" r:id="rId34"/>
    <p:sldId id="274" r:id="rId35"/>
    <p:sldId id="459" r:id="rId36"/>
    <p:sldId id="281" r:id="rId37"/>
    <p:sldId id="398" r:id="rId38"/>
    <p:sldId id="275" r:id="rId39"/>
    <p:sldId id="393" r:id="rId40"/>
    <p:sldId id="279" r:id="rId41"/>
    <p:sldId id="276" r:id="rId42"/>
    <p:sldId id="277" r:id="rId43"/>
    <p:sldId id="278" r:id="rId44"/>
    <p:sldId id="282" r:id="rId45"/>
    <p:sldId id="399" r:id="rId46"/>
    <p:sldId id="283" r:id="rId47"/>
    <p:sldId id="400" r:id="rId48"/>
    <p:sldId id="284" r:id="rId49"/>
    <p:sldId id="401" r:id="rId50"/>
    <p:sldId id="285" r:id="rId51"/>
    <p:sldId id="402" r:id="rId52"/>
    <p:sldId id="286" r:id="rId53"/>
    <p:sldId id="403" r:id="rId54"/>
    <p:sldId id="287" r:id="rId55"/>
    <p:sldId id="288" r:id="rId56"/>
    <p:sldId id="289" r:id="rId57"/>
    <p:sldId id="404" r:id="rId58"/>
    <p:sldId id="291" r:id="rId59"/>
    <p:sldId id="405" r:id="rId60"/>
    <p:sldId id="292" r:id="rId61"/>
    <p:sldId id="293" r:id="rId62"/>
    <p:sldId id="294" r:id="rId63"/>
    <p:sldId id="295" r:id="rId64"/>
    <p:sldId id="406" r:id="rId65"/>
    <p:sldId id="296" r:id="rId66"/>
    <p:sldId id="297" r:id="rId67"/>
    <p:sldId id="298" r:id="rId68"/>
    <p:sldId id="299" r:id="rId69"/>
    <p:sldId id="407" r:id="rId70"/>
    <p:sldId id="300" r:id="rId71"/>
    <p:sldId id="303" r:id="rId72"/>
    <p:sldId id="304" r:id="rId73"/>
    <p:sldId id="305" r:id="rId74"/>
    <p:sldId id="306" r:id="rId75"/>
    <p:sldId id="307" r:id="rId76"/>
    <p:sldId id="309" r:id="rId77"/>
    <p:sldId id="310" r:id="rId78"/>
    <p:sldId id="311" r:id="rId79"/>
    <p:sldId id="409" r:id="rId80"/>
    <p:sldId id="316" r:id="rId81"/>
    <p:sldId id="411" r:id="rId82"/>
    <p:sldId id="317" r:id="rId83"/>
    <p:sldId id="412" r:id="rId84"/>
    <p:sldId id="318" r:id="rId85"/>
    <p:sldId id="413" r:id="rId86"/>
    <p:sldId id="319" r:id="rId87"/>
    <p:sldId id="325" r:id="rId88"/>
    <p:sldId id="321" r:id="rId89"/>
    <p:sldId id="320" r:id="rId90"/>
    <p:sldId id="324" r:id="rId91"/>
    <p:sldId id="322" r:id="rId92"/>
    <p:sldId id="327" r:id="rId93"/>
    <p:sldId id="328" r:id="rId94"/>
    <p:sldId id="329" r:id="rId95"/>
    <p:sldId id="415" r:id="rId96"/>
    <p:sldId id="330" r:id="rId97"/>
    <p:sldId id="416" r:id="rId98"/>
    <p:sldId id="332" r:id="rId99"/>
    <p:sldId id="419" r:id="rId100"/>
    <p:sldId id="333" r:id="rId101"/>
    <p:sldId id="334" r:id="rId102"/>
    <p:sldId id="335" r:id="rId103"/>
    <p:sldId id="336" r:id="rId104"/>
    <p:sldId id="420" r:id="rId105"/>
    <p:sldId id="337" r:id="rId106"/>
    <p:sldId id="421" r:id="rId107"/>
    <p:sldId id="338" r:id="rId108"/>
    <p:sldId id="423" r:id="rId109"/>
    <p:sldId id="341" r:id="rId110"/>
    <p:sldId id="342" r:id="rId111"/>
    <p:sldId id="343" r:id="rId112"/>
    <p:sldId id="344" r:id="rId113"/>
    <p:sldId id="348" r:id="rId114"/>
    <p:sldId id="429" r:id="rId115"/>
    <p:sldId id="350" r:id="rId116"/>
    <p:sldId id="431" r:id="rId117"/>
    <p:sldId id="351" r:id="rId118"/>
    <p:sldId id="352" r:id="rId119"/>
    <p:sldId id="353" r:id="rId120"/>
    <p:sldId id="356" r:id="rId121"/>
    <p:sldId id="434" r:id="rId122"/>
    <p:sldId id="435" r:id="rId123"/>
    <p:sldId id="357" r:id="rId124"/>
    <p:sldId id="358" r:id="rId125"/>
    <p:sldId id="436" r:id="rId126"/>
    <p:sldId id="448" r:id="rId127"/>
    <p:sldId id="360" r:id="rId128"/>
    <p:sldId id="439" r:id="rId129"/>
    <p:sldId id="449" r:id="rId130"/>
    <p:sldId id="361" r:id="rId131"/>
    <p:sldId id="440" r:id="rId132"/>
    <p:sldId id="450" r:id="rId133"/>
    <p:sldId id="362" r:id="rId134"/>
    <p:sldId id="363" r:id="rId135"/>
    <p:sldId id="441" r:id="rId136"/>
    <p:sldId id="364" r:id="rId137"/>
    <p:sldId id="442" r:id="rId138"/>
    <p:sldId id="365" r:id="rId139"/>
    <p:sldId id="443" r:id="rId140"/>
    <p:sldId id="367" r:id="rId141"/>
    <p:sldId id="368" r:id="rId1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1756"/>
    <a:srgbClr val="E10085"/>
    <a:srgbClr val="EB60AA"/>
    <a:srgbClr val="942092"/>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203"/>
  </p:normalViewPr>
  <p:slideViewPr>
    <p:cSldViewPr snapToGrid="0">
      <p:cViewPr varScale="1">
        <p:scale>
          <a:sx n="43" d="100"/>
          <a:sy n="43" d="100"/>
        </p:scale>
        <p:origin x="67" y="5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8C4D177-BC72-354F-94BF-78634F1A29CF}"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855774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8C4D177-BC72-354F-94BF-78634F1A29CF}"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4250091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8C4D177-BC72-354F-94BF-78634F1A29CF}"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53670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8C4D177-BC72-354F-94BF-78634F1A29CF}" type="datetimeFigureOut">
              <a:rPr lang="en-US" smtClean="0"/>
              <a:t>10/5/2023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4281082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8C4D177-BC72-354F-94BF-78634F1A29CF}" type="datetimeFigureOut">
              <a:rPr lang="en-US" smtClean="0"/>
              <a:t>10/5/2023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851501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8C4D177-BC72-354F-94BF-78634F1A29CF}" type="datetimeFigureOut">
              <a:rPr lang="en-US" smtClean="0"/>
              <a:t>10/5/2023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1946396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C4D177-BC72-354F-94BF-78634F1A29CF}" type="datetimeFigureOut">
              <a:rPr lang="en-US" smtClean="0"/>
              <a:t>10/5/2023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2979643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8C4D177-BC72-354F-94BF-78634F1A29CF}" type="datetimeFigureOut">
              <a:rPr lang="en-US" smtClean="0"/>
              <a:t>10/5/2023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2092848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8C4D177-BC72-354F-94BF-78634F1A29CF}" type="datetimeFigureOut">
              <a:rPr lang="en-US" smtClean="0"/>
              <a:t>10/5/2023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57289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8C4D177-BC72-354F-94BF-78634F1A29CF}"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56264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8C4D177-BC72-354F-94BF-78634F1A29CF}"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2A0841-915D-5544-9D20-F5DC18D64E87}" type="slidenum">
              <a:rPr lang="en-US" smtClean="0"/>
              <a:t>‹#›</a:t>
            </a:fld>
            <a:endParaRPr lang="en-US"/>
          </a:p>
        </p:txBody>
      </p:sp>
    </p:spTree>
    <p:extLst>
      <p:ext uri="{BB962C8B-B14F-4D97-AF65-F5344CB8AC3E}">
        <p14:creationId xmlns:p14="http://schemas.microsoft.com/office/powerpoint/2010/main" val="3399636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C4D177-BC72-354F-94BF-78634F1A29CF}" type="datetimeFigureOut">
              <a:rPr lang="en-US" smtClean="0"/>
              <a:t>10/5/2023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2A0841-915D-5544-9D20-F5DC18D64E87}" type="slidenum">
              <a:rPr lang="en-US" smtClean="0"/>
              <a:t>‹#›</a:t>
            </a:fld>
            <a:endParaRPr lang="en-US"/>
          </a:p>
        </p:txBody>
      </p:sp>
    </p:spTree>
    <p:extLst>
      <p:ext uri="{BB962C8B-B14F-4D97-AF65-F5344CB8AC3E}">
        <p14:creationId xmlns:p14="http://schemas.microsoft.com/office/powerpoint/2010/main" val="413950357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8795-81C6-A426-39A5-B8516AB4525C}"/>
              </a:ext>
            </a:extLst>
          </p:cNvPr>
          <p:cNvSpPr>
            <a:spLocks noGrp="1"/>
          </p:cNvSpPr>
          <p:nvPr>
            <p:ph type="ctrTitle"/>
          </p:nvPr>
        </p:nvSpPr>
        <p:spPr>
          <a:xfrm>
            <a:off x="1524000" y="2900363"/>
            <a:ext cx="9144000" cy="1385886"/>
          </a:xfrm>
        </p:spPr>
        <p:txBody>
          <a:bodyPr anchor="t">
            <a:normAutofit/>
          </a:bodyPr>
          <a:lstStyle/>
          <a:p>
            <a:r>
              <a:rPr lang="en-US" sz="3600" dirty="0" err="1">
                <a:latin typeface="+mn-lt"/>
              </a:rPr>
              <a:t>Webdriver</a:t>
            </a:r>
            <a:endParaRPr lang="en-US" sz="3600" dirty="0">
              <a:latin typeface="+mn-lt"/>
            </a:endParaRPr>
          </a:p>
        </p:txBody>
      </p:sp>
      <p:pic>
        <p:nvPicPr>
          <p:cNvPr id="6" name="Picture 5" descr="Logo&#10;&#10;Description automatically generated">
            <a:extLst>
              <a:ext uri="{FF2B5EF4-FFF2-40B4-BE49-F238E27FC236}">
                <a16:creationId xmlns:a16="http://schemas.microsoft.com/office/drawing/2014/main" id="{422C78AE-71C9-CFB3-62D3-65B55E8DDCF0}"/>
              </a:ext>
            </a:extLst>
          </p:cNvPr>
          <p:cNvPicPr>
            <a:picLocks noChangeAspect="1"/>
          </p:cNvPicPr>
          <p:nvPr/>
        </p:nvPicPr>
        <p:blipFill>
          <a:blip r:embed="rId2"/>
          <a:stretch>
            <a:fillRect/>
          </a:stretch>
        </p:blipFill>
        <p:spPr>
          <a:xfrm>
            <a:off x="9729789" y="296862"/>
            <a:ext cx="2071686" cy="560388"/>
          </a:xfrm>
          <a:prstGeom prst="rect">
            <a:avLst/>
          </a:prstGeom>
        </p:spPr>
      </p:pic>
    </p:spTree>
    <p:extLst>
      <p:ext uri="{BB962C8B-B14F-4D97-AF65-F5344CB8AC3E}">
        <p14:creationId xmlns:p14="http://schemas.microsoft.com/office/powerpoint/2010/main" val="1899181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is Automation testing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is a software testing technique that involves the use of automated tools and scripts to execute test cases and compare actual outcomes with expected results.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primary goal of automation testing is to enhance the efficiency and accuracy of the testing process by reducing manual intervention.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automation testing, testers write test scripts using programming languages or test automation tools.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scripts simulate user interactions with the application under test, such as clicking buttons, filling forms, and validating outputs.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Automated tests can be run repeatedly, providing quick feedback on the application's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identifying defects early in the development process.</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774429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offers several advantages, including: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Faster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Automated tests can execute much faster than manual tests, enabling more extensive test coverage in a shorter time.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Consistency: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ensures that tests are consistently executed, reducing the chances of human errors during repetitive tasks.</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Reusability: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scripts can be reused across different test cases, making maintenance more manageable and saving time in the long run.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Scalability: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allows running tests on multiple configurations and environments, making it easier to test complex applications. </a:t>
            </a:r>
          </a:p>
          <a:p>
            <a:pPr marL="0" indent="0">
              <a:buNone/>
            </a:pPr>
            <a:r>
              <a:rPr lang="en-IN" sz="24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5. Regression Testing: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Automation is well-suited for regression testing, where tests are repeatedly executed        to check if new code changes have introduced any new defects. </a:t>
            </a:r>
            <a:endPar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94306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Need for automation testing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need for automation testing arises from the challenges and limitations of manual testing in modern software development.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provides several benefits that make it an essential aspect of the testing process.</a:t>
            </a:r>
            <a:endParaRPr lang="en-IN" sz="2400" kern="100" dirty="0">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Speed and Efficiency: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significantly reduces the time required to execute test cases compared to manual testing. Automated tests can be run continuously, allowing for quick feedback on code changes and accelerating the software development lifecycle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Repetitive Test Execution: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software development, there are many repetitive test scenarios, such as regression testing, where the same test cases need to be executed repeatedly. Automation ensures consistent and reliable execution of these tests, saving valuable time for testers.</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Improved Test Coverage: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Automated tests can cover a vast number of test scenarios that may be impractical to test manually. This extensive test coverage helps identify defects and ensures that the application functions correctly across various environments and configurations. </a:t>
            </a:r>
          </a:p>
          <a:p>
            <a:pPr marL="34290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Consistency and Accuracy: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eliminates the possibility of human errors that may occur during manual testing. Automated tests execute precisely as programmed, providing accurate and reliable results.</a:t>
            </a:r>
          </a:p>
          <a:p>
            <a:pPr marL="342900" lvl="0" indent="-342900">
              <a:buFont typeface="+mj-lt"/>
              <a:buAutoNum type="arabicPeriod"/>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00011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5. Cost Savings: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While automation testing may require initial investment in tools and infrastructure, it leads to long-term cost savings. Automated tests can be reused, reducing the need for repeated manual testing and minimizing the risk of defects in production.</a:t>
            </a: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6. Continuous Integration and Continuous Delivery (CI/CD):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is a critical enabler of CI/CD pipelines. It allows for automated testing of each code change, ensuring that new features and fixes are thoroughly tested before deployment.</a:t>
            </a: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7. Scalability: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As software applications grow and become more complex, manual testing becomes increasingly challenging and time-consuming. Automation allows for scalable and parallel testing, making it suitable for large and complex projects.</a:t>
            </a: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8. Enhanced Test Reporting and Analysis: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tools provide detailed test reports and analytics, allowing testers and stakeholders to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analyze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test results and identify trends and patterns quickly. </a:t>
            </a: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9. Testing in Different Environments: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testing can simulate different environments, browsers, devices, and operating systems, ensuring compatibility across various platforms.</a:t>
            </a:r>
          </a:p>
          <a:p>
            <a:pPr marL="0" indent="0">
              <a:buNone/>
            </a:pPr>
            <a:r>
              <a:rPr lang="en-IN" sz="24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10. Agile and DevOps Practices: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Automation testing aligns well with Agile and DevOps methodologies, where frequent and rapid software releases require efficient and continuous testing. </a:t>
            </a:r>
            <a:endPar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0643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When we can automate software application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Software applications can be automated when certain conditions are met, making automation testing feasible and beneficial.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some common scenarios when automation testing can be implemented:</a:t>
            </a:r>
          </a:p>
          <a:p>
            <a:pPr marL="457200" indent="-4572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Stable Requirements: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software application's requirements should be well-defined and stable. Frequent changes in requirements can lead to high maintenance efforts for automated test scripts.</a:t>
            </a:r>
          </a:p>
          <a:p>
            <a:pPr marL="457200" indent="-4572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Repeated Test Scenarios: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When test scenarios need to be executed repeatedly, such as regression testing, automation can save time and effort by automating the repetitive tasks.</a:t>
            </a:r>
          </a:p>
          <a:p>
            <a:pPr marL="457200" indent="-4572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Large Test Data: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For applications that require testing with a large dataset, automation can efficiently execute tests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analyze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results. </a:t>
            </a:r>
          </a:p>
          <a:p>
            <a:pPr marL="457200" indent="-4572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Frequent Regression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Agile and DevOps environments, where continuous integration and frequent deployments are common, automation is essential for fast and efficient regression testing </a:t>
            </a:r>
          </a:p>
          <a:p>
            <a:pPr marL="457200" indent="-4572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High-Risk Areas: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Critical and high-risk areas of the application that need rigorous testing can be automated to ensure thorough coverage.</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992717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6. Load and Performance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tools are commonly used for load and performance testing to simulate multiple user interactions and measure system performance under various scenarios </a:t>
            </a:r>
          </a:p>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7. Cross-Browser and Cross-Platform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allows testing across multiple browsers, operating systems, and devices to ensure application compatibility. </a:t>
            </a:r>
          </a:p>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8. Time Constraints: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When there are tight project timelines, automation helps in quick test execution and reduces the overall testing time. </a:t>
            </a:r>
          </a:p>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9. Consistency and Accuracy: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Automation eliminates the risk of human errors and ensures consistency and accuracy in test execution.</a:t>
            </a:r>
          </a:p>
          <a:p>
            <a:pPr marL="0" indent="0">
              <a:buNone/>
            </a:pPr>
            <a:r>
              <a:rPr lang="en-IN" sz="24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10. Parallel Testing: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Automation enables parallel test execution, making it suitable for large-scale and complex applications. </a:t>
            </a:r>
            <a:endPar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978305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Which test case we can automate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are suitable for automation typically possess certain characteristics that make them suitable candidates.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some types of test cases that are well-suited for automation: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Regression Tests: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need to be executed frequently to ensure that new code changes have not introduced any defects in previously working functionality.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Repetitive Test Scenarios: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require the same steps to be performed multiple times, such as data-driven tests or tests with various input combinations.</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Load and Performance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simulate a large number of users or transactions to assess the performance and scalability of the application.</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Cross-Browser and Cross-Platform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need to be executed across different browsers, devices, or operating systems.</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Data-Driven Tests: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require multiple sets of data to be tested against the same steps.</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Smoke Tests: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Basic tests that are executed after each build to quickly assess if the application is stable enough for further testing.</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878634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7. Tests on Stable Functionality: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covering stable functionalities that are not likely to change frequently.</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8. Integration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verify the interactions between different components or modules of the application.</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9. </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APIs and Web Services Testing: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that validate the functionalities and responses of APIs and web services.</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10. </a:t>
            </a:r>
            <a:r>
              <a:rPr lang="en-IN" sz="24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End-to-End Testing: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Test cases that validate the complete flow of the application, including interactions with databases, APIs, and UI. </a:t>
            </a:r>
            <a:endPar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053535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Test Automation Types (Unit Testing, API Testing, GUI Testing)</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Unit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Unit testing is a type of test automation that focuses on testing individual units or components of software in isolation.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involves writing automated test cases for small units of code, such as functions, methods, or classes, to ensure that they function correctly.</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Unit tests are typically written by developers themselves to verify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their code and catch any regressions.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API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API (Application Programming Interface) testing is a type of test automation that focuses on testing the communication and integration between different software systems or components.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involves testing the exposed APIs and verifying that they work as expected, handle various inputs and outputs correctly, and return the appropriate responses.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API testing can be done at different levels, such as unit testing individual API endpoints, integration testing between multiple APIs, or system-level testing that involves testing the entire flow of API requests and responses. </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059868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GUI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GUI (Graphical User Interface) testing is a type of test automation that focuses on testing the functionality, usability, and visual aspects of the user interface of an application.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involves automating the interaction with the application's graphical elements, such as buttons, forms, menus, and dialog boxes, to ensure that they behave as expected.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GUI testing typically involves simulating user actions, such as clicking, typing, or selecting options, and verifying that the application responds correctly.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Frameworks like Selenium WebDriver, Cypress, or Appium are popular choices for GUI testing.</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722750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Test Automation Frameworks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automation frameworks are structures or sets of guidelines that provide a systematic approach to designing, implementing, and managing automated tests.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They offer a structured way to organize test code, handle common testing tasks, and promote reusability and maintainability.</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1.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Keyword-driven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keyword-driven framework is a data-driven framework that separates the test automation logic from the test scripts.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uses a spreadsheet or data file to define keywords or actions that represent specific operations or test steps.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test scripts are then written using these keywords, allowing non-technical stakeholders or testers to easily create and modify test cases by updating the test data.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framework promotes code reusability and reduces maintenance efforts.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769313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kern="100" dirty="0">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Data-driven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data-driven framework separates the test script logic from the test data, allowing testers to create multiple test cases using different sets of data.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data is typically stored in external files such as spreadsheets, databases, or XML files.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test scripts are designed to read the test data dynamically and execute the test steps iteratively for each data set.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framework enables testers to cover a wide range of scenarios using a single test script, making it scalable and flexible.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Behaviour-driven Development (BDD)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BDD frameworks focus on collaboration and communication between technical and non-technical stakeholders.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use a human-readable language, such as Gherkin, to describe the expected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the system in the form of scenarios and steps.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scenarios are written in a structured format that can be understood by both technical and non-technical team members.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68193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Test Automation Tools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automation tools are software applications that assist in automating the execution of tests, allowing testers to automate repetitive and time-consuming testing tasks.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tools provide various features and capabilities to create, execute, and manage automated tests. </a:t>
            </a:r>
          </a:p>
          <a:p>
            <a:pPr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is an open-source test automation framework widely used for web application testing.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suite of tools and libraries that support different programming languages such as Java, Python, C#, etc. Selenium WebDriver is the core component that allows interacting with web elements, simulating user actions, and verifying expected results.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supports cross-browser testing, parallel test execution, and integrates with various testing frameworks and tools.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001059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kern="100" dirty="0">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Appium:</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Appium is an open-source test automation tool used for mobile application testing.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supports automating native, hybrid, and web mobile apps across iOS and Android platforms.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Appium allows testers to write automated tests using programming languages such as Java, JavaScript, Python, etc.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client-server architecture and uses the WebDriver protocol to interact with mobile devices or emulators.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Appium supports features like gestures, device orientation, multi-touch, and integrates with popular test frameworks.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JUnit/TestNG: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JUnit and TestNG are popular test automation frameworks for unit testing in Java.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provide annotations, assertions, and other utility classes to create and manage test cases.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frameworks support test execution, test grouping, test dependency management, and test reporting.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also integrate with build tools like Maven and provide features for parameterized testing, test suites, and parallel test execution.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471708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Test Automation Process explanation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test automation process refers to the systematic approach of implementing and executing automated tests.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involves several steps that ensure the successful creation, maintenance, and execution of automated tests.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Planning: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In this phase, the testing objectives, scope, and requirements are defined.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team determines which test cases are suitable for automation and develops a test automation strategy.</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Tool Selection: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team selects the appropriate test automation tool or framework based on the project requirements, application type, and team expertise.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tool should support the desired programming languages, provide necessary features, and integrate well with other testing tools.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626519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Script Development: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scripts are developed using the chosen test automation tool.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involves writing code or using a visual interface to create automated test cases.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scripts should be modular, maintainable, and reusable to support efficient test automation.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Test Data Preparation: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data is prepared to be used during automated testing.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includes creating relevant test data sets, configuring test environment parameters, and ensuring the availability of necessary resources for testing.</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Execution: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Automated test scripts are executed using the selected test automation tool.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tool interacts with the application or system being tested, simulating user actions and verifying expected results.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results are captured and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analyzed</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971896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Result Analysis and Reporting: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test results are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analyzed</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to identify any failures or issues.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reports are generated, providing detailed information about test coverage, passed tests, and failed tests.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helps in tracking the progress of testing and identifying areas that require further attention.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Test Maintenance: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scripts are regularly reviewed and updated as the application or system undergoes changes.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maintenance involves updating test scripts to reflect changes in the application, fixing any broken or outdated tests, and adding new tests as needed.</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8.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Continuous Integration and Continuous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automation is integrated into the development and release process through continuous integration and continuous testing practices.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431300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Components of Selenium Suite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Selenium suite consists of several components that work together to enable automated web testing.</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Each component serves a specific purpose and provides different functionalities.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IDE: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IDE (Integrated Development Environment) is a browser extension that allows users to record, edit, and playback test scripts.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simple interface for creating automated tests without the need for programming knowledge.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IDE is primarily used for quick prototyping and creating basic test cases.</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Remote Control (RC):</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RC is the predecessor to Selenium WebDriver and is now deprecated.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way to interact with web browsers using a JavaScript-based automation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However, Selenium RC is no longer actively maintained and has been replaced by Selenium WebDriver.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742950" lvl="1" indent="-285750">
              <a:buFont typeface="+mj-lt"/>
              <a:buAutoNum type="alphaLcPeriod"/>
            </a:pP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641403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Selenium WebDriver: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is the core component of the Selenium suite.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programming interface to interact with web browsers.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WebDriver allows you to automate user actions such as clicking buttons, filling forms, and navigating through web pages.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supports multiple programming languages, including Java, Python, C#, and more.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4.Selenium Grid:</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Grid allows you to distribute your tests across multiple machines or browsers for parallel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enables you to run tests on different operating systems, browsers, and versions simultaneously, which helps to speed up the testing process and improve test coverage.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Grid is useful for testing in different environments and for running tests on a larger scale.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577486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Selenium vs. Other Testing Tools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is a popular open-source framework for automating web browsers and is widely used for web application testing.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While there are several other testing tools available in the market, here is a comparison between Selenium and some of the commonly used testing tools: </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vs. HP UFT (Unified Functional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is an open-source tool, while HP UFT is a commercial tool.</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supports multiple programming languages, whereas UFT uses VBScript for test automation.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is primarily focused on web application testing, while UFT supports a wider range of technologies and platforms.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requires more technical expertise to set up and use, while UFT provides a more user-friendly and codeless testing experience.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76884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Selenium vs. Appium:</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is used for web application testing, whereas Appium is specifically designed for mobile application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supports multiple web browsers, while Appium supports both Android and iOS platforms for mobile testing.</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vs. JUnit/TestNG: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is a web testing framework, while JUnit and TestNG are unit testing frameworks for Java.</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integrates with JUnit and TestNG for test execution and reporting purposes.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JUnit and TestNG are primarily used for unit testing individual code components, while Selenium is used for end-to-end functional testing of web applications.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vs. Cucumber: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is a tool for browser automation and testing, while Cucumber is a BDD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-Driven Development) framework for writing test scenarios in a human-readable format.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can be used with Cucumber to define and execute test scenarios using Gherkin syntax.</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064731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is Selenium IDE?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IDE (Integrated Development Environment) is a record and playback tool for creating automated test scripts in Selenium.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is a browser extension available for Google Chrome and Firefox that allows testers and developers to easily create, edit, and execute automated tests without the need for any programming knowledge.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IDE provides a user-friendly interface where testers can record their interactions with a web application, such as clicking buttons, filling forms, navigating pages, and verifying elements.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tool captures these actions and generates corresponding Selenium commands, known as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which form the basis of the test script.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Key features of Selenium IDE include: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Record and Playback: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IDE allows users to record their interactions with a web application and play them back as automated test scripts.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233786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Script Editing: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Users can modify and enhance recorded test scripts using the built-in editor.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can add assertions, conditional statements, loops, and other commands to make the test scripts more robust.</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Test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IDE provides a simple interface to execute test scripts directly within the tool.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Users can run tests on the same browser or different browsers supported by Selenium.</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Test Debugging: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tool offers debugging capabilities to help identify and resolve issues in test scripts.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Users can set breakpoints, step through the script, and inspect variables and values during test execution.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Export Options: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Selenium IDE allows users to export test scripts in various programming languages, such as Java, C#, Python, and Ruby, which can then be executed using Selenium WebDriver for more advanced test automation.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64418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Selenium IDE Interface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Selenium IDE (Integrated Development Environment) interface provides a user-friendly environment for creating and executing automated test scripts.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offers various panels and features that enable testers to record, edit, and execute tests without the need for programming knowledge. </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1.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 Pane: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pane displays the test cases created within the Selenium IDE.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Each test case consists of a sequence of steps representing user actions and assertions.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Test Step Pane: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pane shows the individual steps within a selected test case.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displays the commands that represent user actions like clicks, typing, navigating, etc.</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671644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Target/Value Fields: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fields are used to specify the target element on the web page and the value to be entered or verified.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use various element selection methods like XPath, CSS selectors, etc., to identify the target element.</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Command Toolbar: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command toolbar provides a list of commands that testers can add to the test steps.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includes commands for common actions like clicking, typing, selecting options, assertions, etc.</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Log Pane: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log pane displays the execution log of the test script, including information about the executed commands, success or failure status, and any error messages encountered during test execution.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Test Playback Controls: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playback controls allow testers to execute, pause, resume, or stop the execution of the test script.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also set breakpoints and step through the test script for debugging purposes.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33653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Side Panes: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side panes in Selenium IDE provide additional functionality and information.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includes the Test Suites pane for organizing and executing multiple test cases, the Variables pane for managing variables used in the test script, and the Plugins pane for managing installed plugins.</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Options and Preferences: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IDE offers options and preferences settings that allow testers to configure various aspects of test script recording, playback, and other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endParaRPr lang="en-IN" sz="2400" kern="100" dirty="0">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9. Export and Save Options: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save their test scripts in different formats, such as HTML, JSON, or a Selenium WebDriver script in a programming language.</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236132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in Selenium IDE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is the scripting language used in Selenium IDE to create test scripts.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consists of a set of commands that represent user actions and assertions.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Testers can use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commands to interact with web elements, perform actions like clicking, typing, selecting options, and verify expected outcomes.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Command Structure: </a:t>
            </a:r>
          </a:p>
          <a:p>
            <a:pPr marL="742950" lvl="1" indent="-28575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commands follow a specific structure. Each command consists of a command name, followed by one or more arguments.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Arguments can be used to specify target elements, values, or other parameters required by the command.</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User Actions: </a:t>
            </a:r>
          </a:p>
          <a:p>
            <a:pPr marL="742950" lvl="1" indent="-28575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commands allow testers to simulate user actions on web pages.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For example, the "click" command is used to simulate a click on an element, the "type" command is used to enter text into input fields, and the "select" command is used to choose an option from a dropdown menu.</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83687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US"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and its Components</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Assertions: </a:t>
            </a:r>
          </a:p>
          <a:p>
            <a:pPr marL="742950" lvl="1" indent="-28575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commands also support assertions, which are used to verify expected outcomes.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Assertions allow testers to validate that certain conditions are met during the test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For example,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assertText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command can be used to check if a specific text is present on a web page.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Targeting Elements: </a:t>
            </a:r>
          </a:p>
          <a:p>
            <a:pPr marL="742950" lvl="1" indent="-28575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commands use various methods to target elements on a web page.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specify elements using attributes like id, name, CSS selectors, XPath, and more.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allows precise identification of elements for interaction or verification purposes.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Verification Points: </a:t>
            </a:r>
          </a:p>
          <a:p>
            <a:pPr marL="742950" lvl="1" indent="-28575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Selenese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commands provide verification points that help validate the expected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a web application.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compare actual values with expected values using commands like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verifyText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or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verifyTitle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068040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Selenium WebDriver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is a powerful open-source automation tool widely used for testing web applications.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provides a programming interface for interacting with web elements, performing actions, and validating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of web applications.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supports various programming languages such as Java, Python, C#, Ruby, and more, making it highly versatile.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Object-Oriented Approach: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follows an object-oriented approach, allowing testers to write automation scripts using programming languages.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rich set of methods and classes to interact with web elements, handle browser operations, and perform various actions.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Cross-Browser Compatibility: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supports multiple browsers, including Chrome, Firefox, Safari, Edge, and more.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allows testers to run their tests on different browsers to ensure the compatibility and consistent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web applications across platforms.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901591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Locators and Web Elements: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offers a variety of locators, such as ID, name, CSS selector, XPath, and more, to identify web elements on a web page.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use these locators to interact with buttons, input fields, dropdowns, checkboxes, and other elements.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Actions and Interactions: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WebDriver provides methods to perform actions like clicking, typing, selecting options, navigating through pages, handling alerts, and more.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simulate user interactions with web elements to simulate real-user scenarios.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Synchronization: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WebDriver supports explicit and implicit waits to handle synchronization issues.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Explicit waits allow testers to pause the execution until certain conditions are met, ensuring that the web page is fully loaded or an element is visible before proceeding.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Implicit waits set a default waiting time for WebDriver to wait for elements to appear on the page.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827613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Multiple Window and Frames: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supports handling multiple browser windows and frames within a web application.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Testers can switch between windows and frames to interact with specific elements or perform actions in different contexts.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Test Reporting and Integration: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WebDriver integrates well with various testing frameworks, build tools, and test management systems.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features for generating test reports, capturing screenshots, handling test data, and integrating with Continuous Integration (CI) systems for seamless test execution.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Community Support: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has a vast and active community of users and contributors.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extensive documentation, tutorials, forums, and online resources to support testers in learning and using the tool effectively.</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819225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1</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Selenium 3: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3 was a major update that focused on stability, security, and future compatibility.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included enhancements to browser compatibility, better integration with modern browsers, and improved support for mobile testing.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3 also introduced the concept of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GeckoDriver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for Firefox browser automation and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ChromeDriver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for Chrome browser automation.</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2</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Selenium 4: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4 is the latest major version of Selenium WebDriver, which brings several new features and enhancements.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includes native support for the W3C WebDriver standard, improved Selenium Grid capabilities, relative locators for easier element identification, and the addition of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DevTools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API for advanced browser automation.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327808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Architecture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lgn="just">
              <a:buFont typeface="+mj-lt"/>
              <a:buAutoNum type="arabicPeriod"/>
            </a:pPr>
            <a:r>
              <a:rPr lang="en-IN" sz="2400" kern="100" dirty="0">
                <a:cs typeface="Apple Symbols" panose="02000000000000000000" pitchFamily="2" charset="-79"/>
              </a:rPr>
              <a:t>Test Script: This is the script created by the tester in any language supported by Selenium (Java, C#, Python, Ruby, etc.). This is where Selenium commands are written to perform actions on a webpage.</a:t>
            </a:r>
          </a:p>
          <a:p>
            <a:pPr marL="342900" lvl="0" indent="-342900" algn="just">
              <a:buFont typeface="+mj-lt"/>
              <a:buAutoNum type="arabicPeriod"/>
            </a:pPr>
            <a:r>
              <a:rPr lang="en-IN" sz="2400" kern="100" dirty="0">
                <a:cs typeface="Apple Symbols" panose="02000000000000000000" pitchFamily="2" charset="-79"/>
              </a:rPr>
              <a:t>Selenium WebDriver API: This is the programming interface used by the tester to connect with the browser. It contains various commands provided by Selenium to perform different actions on the web elements.</a:t>
            </a:r>
          </a:p>
          <a:p>
            <a:pPr marL="342900" lvl="0" indent="-342900" algn="just">
              <a:buFont typeface="+mj-lt"/>
              <a:buAutoNum type="arabicPeriod"/>
            </a:pPr>
            <a:r>
              <a:rPr lang="en-IN" sz="2400" kern="100" dirty="0">
                <a:cs typeface="Apple Symbols" panose="02000000000000000000" pitchFamily="2" charset="-79"/>
              </a:rPr>
              <a:t>W3C WebDriver Protocol: This is the standard protocol that replaced the JSON Wire Protocol in Selenium 4. It allows communication between the WebDriver and the browser driver. The Selenium commands are encoded in HTTP requests and are sent to the browser driver.</a:t>
            </a:r>
          </a:p>
          <a:p>
            <a:pPr marL="342900" lvl="0" indent="-342900" algn="just">
              <a:buFont typeface="+mj-lt"/>
              <a:buAutoNum type="arabicPeriod"/>
            </a:pPr>
            <a:r>
              <a:rPr lang="en-IN" sz="2400" kern="100" dirty="0">
                <a:cs typeface="Apple Symbols" panose="02000000000000000000" pitchFamily="2" charset="-79"/>
              </a:rPr>
              <a:t>Browser Drivers: Each browser (Chrome, Firefox, Internet Explorer, etc.) has its driver, which acts as a bridge between the WebDriver and the browsers. The driver receives the Selenium commands sent via the W3C WebDriver Protocol. It then interprets and executes these commands on the respective browser and sends the HTTP response back to the WebDriver.</a:t>
            </a:r>
          </a:p>
          <a:p>
            <a:pPr marL="342900" lvl="0" indent="-342900" algn="just">
              <a:buFont typeface="+mj-lt"/>
              <a:buAutoNum type="arabicPeriod"/>
            </a:pPr>
            <a:r>
              <a:rPr lang="en-IN" sz="2400" kern="100" dirty="0">
                <a:cs typeface="Apple Symbols" panose="02000000000000000000" pitchFamily="2" charset="-79"/>
              </a:rPr>
              <a:t>Browsers: This is where the actions commanded by the test scripts are performed.</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078005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4 Architecture</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pic>
        <p:nvPicPr>
          <p:cNvPr id="8" name="Content Placeholder 7">
            <a:extLst>
              <a:ext uri="{FF2B5EF4-FFF2-40B4-BE49-F238E27FC236}">
                <a16:creationId xmlns:a16="http://schemas.microsoft.com/office/drawing/2014/main" id="{5F8C7815-57AD-CB83-DFFC-53C85BDABC47}"/>
              </a:ext>
            </a:extLst>
          </p:cNvPr>
          <p:cNvPicPr>
            <a:picLocks noGrp="1" noChangeAspect="1"/>
          </p:cNvPicPr>
          <p:nvPr>
            <p:ph idx="1"/>
          </p:nvPr>
        </p:nvPicPr>
        <p:blipFill>
          <a:blip r:embed="rId3"/>
          <a:stretch>
            <a:fillRect/>
          </a:stretch>
        </p:blipFill>
        <p:spPr>
          <a:xfrm>
            <a:off x="1038585" y="1165413"/>
            <a:ext cx="9970074" cy="4805822"/>
          </a:xfrm>
        </p:spPr>
      </p:pic>
    </p:spTree>
    <p:extLst>
      <p:ext uri="{BB962C8B-B14F-4D97-AF65-F5344CB8AC3E}">
        <p14:creationId xmlns:p14="http://schemas.microsoft.com/office/powerpoint/2010/main" val="3204086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Selenium Commands in WebDriver-Browser navigation commands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provides several commands for browser navigation.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commands allow you to control the browser's navigation actions, such as opening URLs, navigating back and forward, refreshing the page, and managing browser windows.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1. get(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url</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Opens the specified URL in the current browser window.</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driver.get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("https://</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www.example.com</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navigate().to(</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url</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Navigates to the specified URL in the current browser window. This command is equivalent to get(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url</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driver.navigate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().to("https://</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www.example.com</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navigate().back(): Navigates back to the previous page in the browser's history.</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driver.navigate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().back()</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470012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navigate().forward(): Navigates forward to the next page in the browser's history.</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driver.navigate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().forward() </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navigate().refresh(): Refreshes the current 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driver.navigate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().refresh()</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quit(): Closes the browser and ends the WebDriver session.</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driver.quit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253225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I</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ntroduction to Web elements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the context of web automation testing using Selenium WebDriver, web elements refer to the different components or objects present on a web page that can be interacted with.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elements can include buttons, text fields, checkboxes, dropdowns, links, images, and more.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ability to identify and interact with web elements is crucial for automating test scenarios.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Each web element is represented by an HTML tag and can have various attributes such as id, class, name, value, or text content.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provides methods and techniques to locate and manipulate these web elements in order to perform actions like clicking, entering text, selecting options, or validating their properties.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identification and interaction with web elements are typically done using locators.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Locators are strategies or mechanisms used to uniquely identify a web element on a web page.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572536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Some commonly used locators in Selenium WebDriver are:</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ID: The unique identifier assigned to an element.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Class Name: The CSS class name of an element.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Name: The value of the "name" attribute of an element.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Tag Name: The HTML tag name of an element.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Link Text: The text content of a link element.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Partial Link Text: A partial match of the link text.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CSS Selector: A CSS-based selector to locate elements.</a:t>
            </a:r>
          </a:p>
          <a:p>
            <a:pPr marL="0" indent="0">
              <a:buNone/>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8.XPath: A powerful language for traversing the XML structure of a web page.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811370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are CSS Selectors?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CSS Selectors are patterns used to select and target specific HTML elements on a web page.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They allow you to apply styles or perform actions on elements based on their attributes, classes, IDs, or their relationship with other elements.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CSS Selectors provide a powerful and flexible way to select elements and are widely used in web development and automation testing.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Element Selector: Selects elements based on their tag name.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p selects all &lt;p&gt; elements.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Class Selector: Selects elements based on their class attribute.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.my-class selects all elements with the class "my-class".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ID Selector: Selects an element based on its ID attribute.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#my-id selects the element with the ID "my-id".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Attribute Selector: Selects elements based on their attributes.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[type='submit'] selects all elements with the attribute "type" equal to "submit".</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49382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XPath</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XPath is a query language used to navigate and locate elements within an XML document or an HTML 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the context of web automation testing with Selenium WebDriver, XPath is commonly used as a locator strategy to identify web elements on a web 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XPath allows you to traverse the XML or HTML structure of a page and select nodes based on their attributes, tag names, text content, or relative positions.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provides a powerful way to specify the location of elements, even if they don't have unique identifiers.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XPath expressions are written using a syntax that resembles a path-like structure. </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870955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Types of XPath</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There are two types of XPath expressions: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Absolute XPath:</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Starts with the root node of the document (typically html or /) and specifies the complete path to the desired element.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uses the complete hierarchy of elements from the root node to the target element.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Example: /html/body/div[1]/form/input[3]</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Relative XPath:</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Starts from a specific node and traverses the structure to locate the desired element.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does not rely on the complete hierarchy and is more flexible as it adapts to changes in the structure of the page.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Relative XPath expressions typically use attributes, relationships, or other characteristics of elements to locate them.</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//input[@id='username']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9450077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Selenium WebDriver and Locators</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XPath Functions and Customisations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XPath provides a variety of functions and customizations that can be used to enhance the selection and manipulation of elements. </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Some commonly used XPath functions include: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text(): Selects the text content of an element.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//div[text()='Hello, World!’]</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contains(): Checks if an attribute value contains a specified substring.</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//input[contains(@class, 'username’)]</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starts-with(): Checks if an attribute value starts with a specified substring.</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//a[starts-with(@href, 'https://example.com’)]</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4. normalize-space(): Removes leading and trailing whitespace and collapses multiple spaces into a single space.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521799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Selenium Commands in WebDriver-Get commands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Selenium WebDriver, the "get" commands are used to retrieve information or properties of web elements on a page.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commands allow you to extract data from various elements such as text boxes, buttons, links, and more.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Retrieves the visible text of an element.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String text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attributeName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Retrieves the value of the specified attribute of an element.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String value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("value");</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getCssValue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propertyName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Retrieves the value of the specified CSS property of an element.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color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element.getCssValue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color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7728640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Checks if an element is enabled or disabled.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Checks if a checkbox or radio button is selected.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getLocation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Retrieves the location of an element on the 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Point location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element.getLocation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getSize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Retrieves the size of an element.</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Dimension size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element.getSize</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5120938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Selenium WebDriver, interacting with web elements refers to performing actions such as clicking, typing, selecting options, submitting forms, and more.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actions simulate user interactions with the web application being tested.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click(): Performs a click action on the web element.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sendKeys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keysToSend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Simulates typing or entering text into an input field.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element.sendKeys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("Hello, World!");</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clear(): Clears the text entered in an input field.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element.clear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2783436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submit(): Submits a form element.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element.submit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selectByVisibleText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(text): Selects an option from a dropdown menu by its visible text.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Select dropdown = new Select(element);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dropdown.selectByVisibleText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("Option 1");</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selectByValue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(value): Selects an option from a dropdown menu by its attribute value.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Select dropdown = new Select(element);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dropdown.selectByValue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("value1");</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Checks if a checkbox or radio button is selected.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element.isSelected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Checks if an element is enabled or disabled.</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element.isEnabled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5394641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Performing Actions on Web Elements-text box</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perform actions on a text box in Selenium WebDriver, you can use the following methods:</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sendKeys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keysToSend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method is used to simulate typing or entering text into a text box.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You can pass the text to be entered as a parameter to the method.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(By.id("textbox"));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textBox.sendKeys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("Hello, World!");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clear(): This method is used to clear the text entered in a text box.</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(By.id("textbox"));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textBox.clear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attributeName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method is used to retrieve the value of a specific attribute of the text box element.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For example, you can retrieve the "value" attribute to get the text entered in the text 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(By.id("textbox")); 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enteredText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("value");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("Entered text: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enteredText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3618390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the text box is enabled or disabled.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By.id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("textbox"));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textBox.isEnabled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text box enabled?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the text box is displayed on the web page.</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textBox</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By.id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("textbox"));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textBox.isDisplayed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("Is text box displayed? "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156700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Performing Actions on Web Elements-inks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perform actions on links in Selenium WebDriver, you can use the following methods: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click(): This method is used to click on a link. It simulates the user clicking on the link.</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link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("Home"));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retrieve the text of a link. It returns the visible text displayed on the link.</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link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("About Us")); 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("Link text: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attributeName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retrieve the value of a specific attribute of the link element. You can retrieve attributes like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href</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to get the link URL.</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link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("Contact")); 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linkUrl</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href</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("Link URL: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linkUrl</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342900" lvl="0" indent="-342900">
              <a:buFont typeface="+mj-lt"/>
              <a:buAutoNum type="romanUcPeriod"/>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834295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the link is enabled or disabled.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link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("Products"));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link enabled?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the link is displayed on the web 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link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By.linkText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("FAQs"));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link.isDisplayed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link displayed?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3046583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Performing Actions on Web Elements-button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perform actions on buttons in Selenium WebDriver, you can use the following methods: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click(): This method is used to click on a button. It simulates the user clicking on the button.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button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By.id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submitBtn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button.click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retrieve the text displayed on the button.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button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By.className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loginBtn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buttonText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button.getText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("Button text: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buttonText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the button is enabled or disabled.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button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By.cssSelector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("input[type='submit']"));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button.isEnabled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button enabled?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276711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the button is displayed on the web 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button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By.xpath</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("//button[@id='</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cancelBtn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button.isDisplayed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button displayed?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submit(): This method is used to submit a form by clicking on the button. It is typically used with &lt;input&gt; elements of type "submit".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submitButton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By.tagName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("input"));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submitButton.submit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7006005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Performing Actions on Web Elements-Radio Button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perform actions on radio buttons in Selenium WebDriver, you can use the following methods: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click(): This method is used to click on a radio button. It simulates the user clicking on the radio button.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radioButton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By.id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maleRadio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radioButton.click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a radio button is selected or not.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radioButton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By.xpath</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("//input[@name='gender' and @value='female']"));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radioButton.isSelected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radio button selected?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a radio button is enabled or disabled.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radioButton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By.cssSelector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("input[type='radio']"));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radioButton.isEnabled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radio button enabled?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a radio button is displayed on the web page.</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radioButton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By.className</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radioButton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radioButton.isDisplayed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("Is radio button displayed? "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2068041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Performing Actions on Web Elements-Checkboxes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perform actions on checkboxes in Selenium WebDriver, you can use the following methods: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click(): This method is used to click on a checkbox. It simulates the user clicking on the checkbox.</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checkbox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By.id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agreeCheckbox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checkbox.click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a checkbox is selected or not.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checkbox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By.xpath</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("//input[@id='</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newsletterCheckbox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checkbox.isSelected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checkbox selected?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isSelected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a checkbox is enabled or disabled.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checkbox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By.cssSelector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("input[type='checkbox']"));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checkbox.isEnabled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("Is checkbox enabled? "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isEnabled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This method is used to check if a checkbox is displayed on the web page.</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Example: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checkbox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By.className</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("checkbox"));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boolean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checkbox.isDisplayed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("Is checkbox displayed? " +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isDisplayed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56360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Performing Actions on Web Elements-Dynamic Web Tables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Performing actions on dynamic web tables in Selenium WebDriver requires a combination of locating the table elements and using various methods to interact with the table data.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some commonly used actions on dynamic web tables: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Locating the Table: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 the appropriate locator strategy (such as XPath, CSS selector, or ID) to locate the table element on the web page.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Getting Table Rows: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Once the table element is located, use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findElements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method to get all the rows in the table.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will return a list of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objects representing each row.</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Getting Table Cells: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Iterate through the rows and use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findElements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method on each row to get all the cells within that row.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will return a list of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objects representing each cell.</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1521299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Accessing Cell Data: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To access the data within a specific cell, you can use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getText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method on the respective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representing the cell.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will retrieve the text content of the cell.</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Performing Actions: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Based on your testing scenario, you can perform various actions such as reading data, modifying data, or verifying data in the table cells.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8076232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Types of Waits in Selenium</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Selenium, waits are used to ensure that the WebDriver waits for a certain condition to be met before proceeding with the next step.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This is especially useful when dealing with web applications that have dynamic content or elements that may take some time to load.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There are three types of waits in Selenium:</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Implicit Waits: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Implicit waits are set at the WebDriver level and apply to all elements.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With an implicit wait, WebDriver will wait for a specified amount of time before throwing an exception if the element is not found or interactable.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This wait is applied automatically to all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findElement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findElements</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methods. </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4470734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 and Waits in Selenium</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Explicit Waits: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Explicit waits are used to wait for a specific condition to occur before proceeding to the next step.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With explicit waits, you can define a specific condition and the maximum amount of time to wait for that condition to be met.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provides more control and flexibility compared to implicit waits.</a:t>
            </a:r>
          </a:p>
          <a:p>
            <a:pPr marL="742950" lvl="1" indent="-285750">
              <a:buFont typeface="+mj-lt"/>
              <a:buAutoNum type="alphaLcPeriod"/>
            </a:pP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Fluent Waits: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Fluent waits are an advanced form of explicit waits that allow you to define a custom polling interval and exceptions to ignore during the wait.</a:t>
            </a:r>
          </a:p>
          <a:p>
            <a:pPr marL="742950" lvl="1" indent="-285750">
              <a:buFont typeface="+mj-lt"/>
              <a:buAutoNum type="alphaLcPeriod"/>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Fluent waits provide a fluent API that allows you to define the conditions and duration for waiting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2726018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Select Class in Selenium WebDriver</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Selenium WebDriver, the Select class is used for handling dropdown (select) elements in web applications.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provides methods to interact with dropdowns, select options, and retrieve selected values.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7256731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Methods under Select Class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Select class in Selenium WebDriver provides various methods to interact with dropdown (select) elements on a web page.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some commonly used methods of the Select class: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selectByIndex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(int index): Selects an option by its index. The index starts from 0 for the first option.</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selectByValue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(String value): Selects an option by its value attribute.</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selectByVisibleText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(String text): Selects an option by its visible text.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deselectByIndex</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(int index): Deselects an option by its index.</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deselectByValue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(String value): Deselects an option by its value attribute.</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deselectByVisibleText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(String text): Deselects an option by its visible text.</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deselectAll</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Deselects all selected options in a multi-select dropdown.</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getOptions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Returns a list of all available options in the dropdown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getAllSelectedOptions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Returns a list of all selected options in a multi-select dropdown. </a:t>
            </a:r>
          </a:p>
          <a:p>
            <a:pPr marL="0" indent="0">
              <a:buNone/>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10.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getFirstSelectedOption</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Returns the first selected option in a multi-select dropdown.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4439453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Handling Dropdowns and Multiple Select Operations using Select Class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handle dropdowns and perform multiple select operations using the Select class in Selenium WebDriver, you can follow these steps: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Instantiate the Select class: First, create an instance of the Select class by locating the dropdown element on the web page.</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Select an option: To select an option from the dropdown, you can use one of the available methods provided by the Select class.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Deselect an option: If the dropdown allows multiple selections (i.e., it is a multi-select dropdown), you can deselect options using the deselect methods.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Get selected options: You can retrieve the selected options from a multi-select dropdown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getAllSelectedOptions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Get all options: To get all the available options in the dropdown, you can use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getOptions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6822100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Actions Class and Action Interface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Actions class and Action interface in Selenium WebDriver are used for performing advanced user interactions, such as mouse actions, keyboard actions, drag-and-drop operations, and more.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Let's explore the Actions class and Action interface in more detail:</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Actions Class: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Actions class is part of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org.openqa.selenium.interactions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package in Selenium WebDriver.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 high-level API for performing complex user interactions.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some key methods provided by the Actions class: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1. click(</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Performs a mouse click on the specified element.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doubleClick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Performs a double-click action on the specified element.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contextClick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Performs a right-click (context-click) action on the specified element.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sendKeys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CharSequence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keys): Sends keyboard keys to the currently focused element.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dragAndDrop</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source,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target): Drags the source element and drops it onto the target element.</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3018607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moveToElement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Moves the mouse to the middle of the specified element.</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build(): Generates a composite Action object containing all the actions specified.</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Action Interface: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Action interface represents a single user interaction or a sequence of interactions.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is part of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org.openqa.selenium.interactions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package in Selenium WebDriver.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Actions class uses the Action interface to perform various actions. </a:t>
            </a:r>
          </a:p>
          <a:p>
            <a:pPr marL="742950" lvl="1" indent="-285750">
              <a:buFont typeface="+mj-lt"/>
              <a:buAutoNum type="alphaLcPeriod"/>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The Action interface defines the perform() method, which is used to execute the action or sequence of actions.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6909540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Methods for handling Keyboard and Mouse based interactions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Selenium WebDriver, you can handle keyboard and mouse-based interactions using the Actions class.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Actions class provides methods for performing various keyboard and mouse actions.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some commonly used methods for handling keyboard and mouse interactions:</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Keyboard Actions:</a:t>
            </a:r>
          </a:p>
          <a:p>
            <a:pPr marL="914400" lvl="1" indent="-45720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sendKeys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CharSequence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keys): Sends keyboard keys to the currently focused element. You can pass multiple keys as arguments, such as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Keys.ENTER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Keys.BACKSPACE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or any other key value.</a:t>
            </a:r>
          </a:p>
          <a:p>
            <a:pPr marL="914400" lvl="1" indent="-45720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keyDown</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CharSequence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key): Performs a key down action on the specified key.</a:t>
            </a:r>
          </a:p>
          <a:p>
            <a:pPr marL="914400" lvl="1" indent="-45720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keyUp</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CharSequence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key): Performs a key up action on the specified key.</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914400" lvl="1" indent="-457200">
              <a:buFont typeface="+mj-lt"/>
              <a:buAutoNum type="alphaLcPeriod"/>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2240220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Mouse Actions: </a:t>
            </a:r>
          </a:p>
          <a:p>
            <a:pPr marL="342900" lvl="0" indent="-342900">
              <a:buFont typeface="+mj-lt"/>
              <a:buAutoNum type="romanL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click(</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Performs a mouse click on the specified element.</a:t>
            </a:r>
          </a:p>
          <a:p>
            <a:pPr marL="342900" lvl="0" indent="-342900">
              <a:buFont typeface="+mj-lt"/>
              <a:buAutoNum type="romanL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doubleClick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Performs a double-click action on the specified element.</a:t>
            </a:r>
          </a:p>
          <a:p>
            <a:pPr marL="342900" lvl="0" indent="-342900">
              <a:buFont typeface="+mj-lt"/>
              <a:buAutoNum type="romanL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contextClick</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Performs a right-click (context-click) action on the specified element.</a:t>
            </a:r>
          </a:p>
          <a:p>
            <a:pPr marL="342900" lvl="0" indent="-342900">
              <a:buFont typeface="+mj-lt"/>
              <a:buAutoNum type="romanL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moveToElement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Moves the mouse to the middle of the specified element.</a:t>
            </a:r>
          </a:p>
          <a:p>
            <a:pPr marL="342900" lvl="0" indent="-342900">
              <a:buFont typeface="+mj-lt"/>
              <a:buAutoNum type="romanL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dragAndDrop</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source,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target): Drags the source element and drops it onto the target element.</a:t>
            </a:r>
          </a:p>
          <a:p>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dragAndDropBy</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source, int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xOffset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int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yOffset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Drags the source element and drops it at the specified offset.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Testing Drag and Drop and Mouse Hover functionality using Actions Class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test drag and drop and mouse hover functionality using the Actions class in Selenium WebDriver, you can use the following methods:</a:t>
            </a:r>
          </a:p>
          <a:p>
            <a:pPr marL="0" indent="0">
              <a:buNone/>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1. Drag and Drop: </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Mouse Hover:</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9044768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are Alerts ? </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the context of web testing, an alert is a pop-up dialog box that appears on a webpage to provide important information or to prompt the user for some action.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Alerts can be of different types: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Simple Alerts: These are basic alerts that display a message and contain a single button to close the alert.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Confirmation Alerts: These alerts provide a message along with two buttons: OK and Cancel. They are used when the user needs to confirm or cancel an action.</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Prompt Alerts: These alerts are similar to confirmation alerts but include an input field where the user can enter some text or value.</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9319433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Types of alerts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the context of web testing, there are generally three types of alerts that can appear on a webpage:</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Simple Alerts: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Simple alerts display a message with an "OK" button.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are used to provide information to the user or display an error message.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Once the alert is displayed, the user can only dismiss it by clicking the "OK" button.</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Confirmation Alerts: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Confirmation alerts require the user to confirm or cancel an action.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display a message along with "OK" and "Cancel" buttons.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user can click "OK" to proceed with the action or click "Cancel" to abort it.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Confirmation alerts are commonly used for actions that may have irreversible consequences, such as deleting data or submitting a form.</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3982369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Prompt Alerts: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Prompt alerts are similar to confirmation alerts but include an additional input field where the user can enter some text or value.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prompt the user to provide input or enter information.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Prompt alerts typically have a message, an input field, and "OK" and "Cancel" buttons.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The user can enter text in the input field and then choose to proceed or cancel the action.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4741121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Handling Alerts in Selenium WebDriver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handle alerts in Selenium WebDriver, you can use the Alert interface provided by the WebDriver API.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the steps to handle alerts: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Switch to the Alert: First, you need to switch the WebDriver's focus to the alert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switchTo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().alert() method.</a:t>
            </a:r>
          </a:p>
          <a:p>
            <a:pPr marL="34290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Get the Alert Text: You can retrieve the text displayed in the alert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getText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a:t>
            </a:r>
          </a:p>
          <a:p>
            <a:pPr marL="342900" lvl="0" indent="-342900">
              <a:buFont typeface="+mj-lt"/>
              <a:buAutoNum type="arabicPeriod"/>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Accept or Dismiss the Alert: Depending on the type of alert, you can accept it (click "OK") or dismiss it (click "Cancel") using the accept() or dismiss() method. </a:t>
            </a:r>
          </a:p>
          <a:p>
            <a:pPr marL="34290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Enter Input in Prompt Alert: If the alert is a prompt alert that requires user input, you can use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sendKeys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to enter text in the input field of the alert.</a:t>
            </a:r>
          </a:p>
          <a:p>
            <a:pPr marL="34290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Switch back to the Default Content: After handling the alert, you can switch the WebDriver's focus back to the default content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defaultContent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a:t>
            </a:r>
          </a:p>
          <a:p>
            <a:pPr marL="342900" lvl="0" indent="-342900">
              <a:buFont typeface="+mj-lt"/>
              <a:buAutoNum type="arabicPeriod"/>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6254404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Handling Multiple Windows and Multiple Tabs using Selenium WebDriver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handle multiple windows and multiple tabs using Selenium WebDriver, you can follow these steps: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Get the window handles: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When a new window or tab is opened, you need to retrieve the window handles of all the open windows or tabs.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Switch to a specific window or tab: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To switch the driver's focus to a specific window or tab, you need to use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driver.switchTo</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().window() method and pass the window handle as a parameter.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Perform actions on the window or tab: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Once the driver's focus is on a specific window or tab, you can perform various actions such as interacting with elements, clicking buttons, or navigating to different URLs.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Switch back to the main window or tab: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After you have finished interacting with a specific window or tab, you can switch the driver's focus back to the main window or tab.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6588430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Scrolling on a web page using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JavaScriptExecutor</a:t>
            </a:r>
            <a:endPar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endParaRP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scroll on a web page using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JavaScriptExecutor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in Selenium WebDriver, you can use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executeScript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provided by the driver. </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window.scrollBy</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 y) scrolls the page by x pixels horizontally and y pixels vertically.</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arguments[0].</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scrollIntoView</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scrolls the page to bring the specified element into the viewport.</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window.scrollTo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 y) scrolls the page to the specified coordinates.</a:t>
            </a:r>
          </a:p>
          <a:p>
            <a:pPr marL="342900" lvl="0" indent="-342900">
              <a:buFont typeface="Symbol" pitchFamily="2" charset="2"/>
              <a:buChar char=""/>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9807311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Verifying Tooltip using Selenium WebDriver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verify a tooltip using Selenium WebDriver, you can use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getAttribute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to retrieve the "title" attribute of the element that triggers the tooltip.</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is an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short for Inline Frame, is an HTML element that allows you to embed another HTML document within the current document.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is like a window within a window, where you can display content from a different source or webpage within your main webpage.</a:t>
            </a:r>
          </a:p>
          <a:p>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are commonly used to embed external content such as advertisements, maps, videos, or social media widgets into a webpage.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They provide a way to include content from different domains or sources while maintaining the overall structure and layout of the main webpage.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interact with elements inside 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using Selenium WebDriver, you need to switch the driver's focus to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switchTo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().frame() method. </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6717779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Identifying an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IFrame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identify 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in a web page, you can use various methods provided by Selenium WebDriver. Here are some common ways to identify 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Index: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If the web page contains multiple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IFrames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you can identify an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using its index.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index starts from 0, so the first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would have an index of 0, the second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would have an index of 1, and so on.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Name or ID: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If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has a specific name or ID attribute, you can switch to it by specifying the name or ID using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switchTo</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().frame() method.</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If you have a reference to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representing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you can switch to it using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switchTo</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().frame() method and pass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as an argument.</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8890297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Interacting with Web Elements Part-III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Switching to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IFrames</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using Selenium WebDriver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switch to 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using Selenium WebDriver, you can use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switchTo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().frame() method.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driver.switchTo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().frame(0) - This code switches to the first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on the web page using its index. The index starts from 0, so the first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would have an index of 0.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driver.switchTo</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().frame("</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This code switches to 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with a specific name or ID. Replace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with the actual name or ID of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you want to switch to.</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driver.findElement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By.tagName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 This code locates an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findElement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and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By.tagName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locator strategy. You can use other locator strategies like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By.id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By.name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etc., depending on the attributes of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element. </a:t>
            </a:r>
          </a:p>
          <a:p>
            <a:pPr marL="0" indent="0">
              <a:buNone/>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4.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driver.switchTo</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().frame(</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iframeElement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 This code switches to the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using the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WebElement</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representing the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IFrame</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3689135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Robot Class to handle window operations </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Robot class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Robot class and the WebDriver framework are separate concepts and not directly related.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Robot class is part of the Java AWT (Abstract Window Toolkit) library and is used for simulating user interactions at the system level, while WebDriver is a framework for automating web browsers.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Robot class is primarily used for tasks that involve simulating keyboard input, mouse clicks, and mouse movements at the system level, such as automating desktop applications or controlling the mouse and keyboard outside of a browser context.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On the other hand, WebDriver is specifically designed for automating web browsers.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provides a set of APIs and methods to interact with web elements, navigate through web pages, and perform various actions on a web application.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WebDriver supports different browser drivers (such as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ChromeDriver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FirefoxDriver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etc.) and provides a standardized way to automate web testing.</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Therefore, if you are working with Selenium WebDriver, you would typically use WebDriver's built-in methods and APIs to automate web browser interactions, rather than relying on the Robot class.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WebDriver offers more specific and robust functionality for web automation tasks.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3144013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Robot Class to handle window operations </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Methods under Robot class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KeyPress</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Key Release, Mouse Press, Mouse Release, Mouse Move)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methods under the Robot class in Java AWT (Abstract Window Toolkit) provide capabilities for simulating user interactions at the system level.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While these methods can be used independently of Selenium WebDriver, they can still be used in combination with WebDriver to enhance the automation capabilities.</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KeyPress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KeyRelease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keyPress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is used to simulate pressing a key on the keyboard.</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MousePress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MouseRelease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mousePress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is used to simulate pressing a mouse button.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MouseMove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mouseMove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is used to move the mouse pointer to a specific screen coordinate.</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7359632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Robot Class to handle window operations </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Advantages and disadvantages of the Robot class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Robot class in WebDriver provides a way to simulate keyboard and mouse actions at the system level. It can be useful in certain scenarios, but it also has its advantages and disadvantages.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Advantages of the Robot class: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Simulating real user interactions: The Robot class allows you to mimic user actions such as pressing keys, clicking the mouse, or moving the mouse pointer. This can be helpful in automating test scenarios that involve complex user interactions.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System-level actions: The Robot class operates at the system level, which means it can perform actions outside the browser window. It can interact with other applications or perform tasks that are not directly accessible through WebDriver.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Cross-platform compatibility: The Robot class is part of the Java AWT (Abstract Window Toolkit), which makes it platform-independent. It can be used on different operating systems without requiring specific platform-specific configurations.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509158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Robot Class to handle window operations </a:t>
            </a:r>
            <a:endPar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Disadvantages of the Robot class: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Lack of browser context: The Robot class operates at the system level and does not have direct access to the browser's internal structure or elements. It cannot interact with web elements like WebDriver does. Therefore, it may not be suitable for testing scenarios that require precise control over web elements.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Fragility and maintenance: Since the Robot class relies on simulating user actions at the system level, it is more prone to issues related to system configuration and environment. Any changes in the system or the application being tested may require adjustments or updates to the Robot-based code.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Limited browser compatibility: The Robot class's actions are not specific to any particular browser, which means they may not be fully compatible with all browsers. Some browser-specific features or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may not be accurately replicated using the Robot class.</a:t>
            </a:r>
          </a:p>
          <a:p>
            <a:pPr marL="0" indent="0">
              <a:buNone/>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4. Lack of synchronization: The Robot class does not have built-in synchronization mechanisms to wait for elements or handle dynamic changes on a web page. It performs actions immediately without considering the state of the application, which can lead to synchronization issues in test scenarios.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1857770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TestNG</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TestNG is a testing framework for Java that is widely used in the Selenium WebDriver ecosystem.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provides a powerful and flexible platform for organizing and running tests, generating reports, and managing test configurations. </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1.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Organization: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allows you to organize your tests into test suites, test classes, and test methods, making it easy to manage and execute specific sets of tests.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Annotations: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uses annotations to define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test methods. Annotations such as @Test,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BeforeMethod</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AfterMethod</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and more provide precise control over test execution and setup/teardown operations.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Parallel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supports parallel execution of tests, allowing you to run tests concurrently on multiple threads or across multiple machines.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can significantly reduce test execution time and improve efficiency.</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6880080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Test Dependencies: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allows you to specify dependencies between test methods, ensuring that certain tests are executed only after the successful execution of their dependencies.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enables better control over test execution order and helps in managing complex test scenarios.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Data-Driven Testing: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supports data-driven testing by providing mechanisms to execute the same test method with different sets of data.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is useful for testing different input combinations or scenarios.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Test Configuration Management: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allows you to define and manage test configurations using configuration methods and parameters.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enables you to define and reuse common setup and teardown operations across multiple tests.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Reporting and Logging: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provides comprehensive test result reporting, including information about passed, failed, and skipped tests.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4939443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Installing TestNG Plug-in in Eclipse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install the TestNG plugin in Eclipse for WebDriver, you can follow these steps: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Launch Eclipse: Open the Eclipse IDE on your computer.</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Go to Eclipse Marketplace: Click on the "Help" menu in the toolbar and select "Eclipse Marketplace" from the dropdown.</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Search for TestNG: In the Eclipse Marketplace dialog, type "TestNG" in the search bar located in the top-right corner.</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Select TestNG: From the search results, you should see the "TestNG for Eclipse" plugin. Click on the "Go to Marketplace" button next to it.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Install TestNG: On the TestNG for Eclipse page in the Eclipse Marketplace, click the "Install" button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Review the installation details: In the installation dialog, you will see the list of features that will be installed. Review the details and click the "Confirm" button.</a:t>
            </a:r>
          </a:p>
          <a:p>
            <a:pPr marL="228600"/>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8208771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Accept the license terms: On the next page, you will be presented with the license terms. Read and accept the terms, then click the "Finish" button.</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Restart Eclipse: After the installation is complete, Eclipse will prompt you to restart the IDE. Click "Yes" to restart Eclipse.</a:t>
            </a: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9.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Verify TestNG installation: Once Eclipse restarts, you can verify the successful installation of TestNG by creating a new Java project or opening an existing one. Right-click on the project, go to "Properties" and check if "TestNG" appears in the left sidebar.</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8681298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Rules to write TestNG</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When writing TestNG tests for WebDriver, it's important to follow certain rules and best practices to ensure efficient and effective test automation.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TestNG annotations: TestNG provides annotations that help in structuring and organizing test cases. Use annotations like @Test,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BeforeMethod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AfterMethod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BeforeClass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AfterClass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to define test methods and setup/teardown methods.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Separate test logic from setup/teardown: Keep your test methods focused on the specific test case, and move common setup and teardown code to separate methods using TestNG annotations like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BeforeMethod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AfterMethod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assertions for verification: Use TestNG's assertion methods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Assert.assertEquals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Assert.assertTrue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etc.) to validate expected results against actual results during the test execution.</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Parameterize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tests:TestNG</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allows parameterization of test methods using data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providers.This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helps in executing the same test with different input data. </a:t>
            </a:r>
          </a:p>
          <a:p>
            <a:pPr marL="34290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TestNG's test configuration options: TestNG provides various configuration options such as parallel execution, grouping, and dependency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management.Use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these options to customize the test execution and improve test efficiency.</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3883387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Keep tests independent and isolated: Each test method should be independent of other tests and not rely on the state or results of previous tests. Isolate the test cases to prevent interference and ensure reliable test execution.</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7.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proper naming conventions: Follow a consistent and descriptive naming convention for test methods, making it easier to understand the purpose of each test.</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8.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meaningful test outputs and logging: Utilize logging frameworks like Log4j or the built-in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System.out.println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statements to log useful information during test execution.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9. Utilize TestNG's reporting features: TestNG provides built-in HTML and XML reports that give detailed information about test execution. </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10.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Regularly review and refactor tests: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As your test suite grows, review and refactor tests to maintain code cleanliness, readability, and maintainability.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8296452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Annotations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Annotations play a crucial role in TestNG as they define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execution flow of test methods.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annotation is used to mark a method as a test method.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BeforeMethod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annotation is used to mark a method that should be executed before each test method.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AfterMethod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annotation is used to mark a method that should be executed after each test method.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BeforeClass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annotation is used to mark a method that should be executed once before all the test methods in a class.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AfterClass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annotation is used to mark a method that should be executed once after all the test methods in a class have run. </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1893361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Test Suite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 test suite in WebDriver is a collection of test cases that are grouped together to execute as a single unit.</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allows you to organize and manage multiple test cases, define the order of their execution, and generate consolidated test reports. </a:t>
            </a:r>
          </a:p>
          <a:p>
            <a:pPr marL="0" indent="0">
              <a:buNone/>
            </a:pPr>
            <a:endParaRPr lang="en-IN" sz="2400" kern="100" dirty="0">
              <a:latin typeface="Apple Symbols" panose="02000000000000000000" pitchFamily="2" charset="-79"/>
              <a:ea typeface="Apple Symbols" panose="02000000000000000000" pitchFamily="2" charset="-79"/>
              <a:cs typeface="Apple Symbols" panose="02000000000000000000" pitchFamily="2" charset="-79"/>
            </a:endParaRP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 of Test Suite: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 test suite in WebDriver is typically created using a test framework like TestNG or JUnit.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is defined as a class or configuration file that specifies the set of test cases to be executed together.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Test suites provide a convenient way to manage and execute multiple tests in a specific order.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6218918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Sequencing</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TestNG, you can control the sequencing or order of execution of your test methods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dependsOnMethods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attribute in the @Test annotation.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This allows you to specify dependencies between test methods, ensuring that certain tests are executed before others.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Sequencing in TestNG allows you to define the order in which your test methods should be executed.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using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dependsOnMethods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attribute, you can specify that a test method depends on the successful execution of one or more other test methods.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This ensures that the dependent test method(s) are executed before the current test method.</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5663617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Grouping</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TestNG, you can group your test methods using the groups attribute in the @Test annotation. Grouping allows you to categorize your tests and execute them selectively based on the specified groups.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Grouping in TestNG allows you to organize your tests based on different criteria, such as functional areas, priority levels, or test types.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assigning test methods to specific groups, you can easily run tests that belong to a particular group or exclude certain groups from execution.</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6005949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Asserstions</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/verifications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Assertions or verifications in WebDriver are used to verify the expected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or state of web elements or conditions during test execution.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They allow you to validate whether certain conditions are true or false, and if they are not as expected, the test will fail.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 of Assertions/Verifications:</a:t>
            </a:r>
          </a:p>
          <a:p>
            <a:pPr marL="342900" lvl="0" indent="-342900">
              <a:buFont typeface="Symbol" pitchFamily="2" charset="2"/>
              <a:buChar char=""/>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assertEquals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(expected, actual): Compares the expected and actual values for equality.</a:t>
            </a:r>
          </a:p>
          <a:p>
            <a:pPr marL="342900" lvl="0" indent="-342900">
              <a:buFont typeface="Symbol" pitchFamily="2" charset="2"/>
              <a:buChar char=""/>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assertTrue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(condition): Checks whether the given condition is true.</a:t>
            </a:r>
          </a:p>
          <a:p>
            <a:pPr marL="342900" lvl="0" indent="-342900">
              <a:buFont typeface="Symbol" pitchFamily="2" charset="2"/>
              <a:buChar char=""/>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assertFalse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(condition): Checks whether the given condition is false.</a:t>
            </a:r>
          </a:p>
          <a:p>
            <a:pPr marL="342900" lvl="0" indent="-342900">
              <a:buFont typeface="Symbol" pitchFamily="2" charset="2"/>
              <a:buChar char=""/>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8273892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Parameterization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Parameterization in TestNG allows you to pass parameters to your test methods, enabling you to run the same test logic with different input values.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This is useful when you want to test different scenarios or variations of a test case without duplicating code. </a:t>
            </a:r>
          </a:p>
          <a:p>
            <a:pPr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TestNG supports parameterization through the use of the @Parameters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DataProvider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annotations.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@Parameters annotation is used to define the parameters at the test suite level, while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DataProvider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annotation is used to provide the actual values for the parameters.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specifying the parameters in the test suite and providing values through a data provider, you can run the same test method with different inputs.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5414341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Parallel/Cross Browser Testing</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Parallel/Cross Browser Testing in WebDriver allows you to execute your test cases simultaneously across multiple browsers or browser instances, improving test execution time and increasing test coverage.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Here's an explanation of Parallel/Cross Browser Testing in WebDriver and an example: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 of Parallel/Cross Browser Testing: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Parallel testing involves running multiple tests or test cases concurrently, allowing you to execute tests in parallel threads or processes.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Cross browser testing involves running the same test case on different web browsers to ensure compatibility and consistency across different browser environments.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Parallel/Cross Browser Testing in WebDriver helps validate the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of your application across multiple browsers and speeds up the overall testing process.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5872031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Reports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Reports in WebDriver refer to generating detailed test execution reports that provide insights into the test results, including the status of each test case, the number of passed and failed tests, and any errors or exceptions encountered during test execution.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reports help in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analyzing</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the test results, identifying issues, and facilitating communication among team members.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Here's an explanation of reports in WebDriver and an example:</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Explanation of Reports in WebDriver: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Reports in WebDriver are typically generated using third-party libraries or frameworks that provide enhanced reporting capabilities beyond the default reporting features offered by WebDriver itself.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libraries/frameworks help in generating comprehensive HTML, XML, or PDF reports that are easy to read and understand.</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9251103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Types of Reports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There are several types of reports that can be generated in WebDriver to provide different levels of detail and insights into the test execution.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HTML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HTML reports are widely used in WebDriver to generate detailed and interactive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usually include test case names, test status (pass/fail), execution time, error messages (if any), screenshots (in case of failures), and other relevant information.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HTML reports can be easily viewed in web browsers, making it convenient to navigate through test results and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analyze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them.</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XML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XML reports provide a structured format for storing test execution data.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are machine-readable and can be easily parsed by tools or frameworks for further analysis or integration with other systems.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XML reports can be generated using libraries like TestNG, JUnit, or custom XML writers.</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0358549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PDF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PDF reports are commonly used when there is a need to generate printable and shareable reports.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provide a fixed layout and formatting, making them suitable for formal documentation and communication.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CSV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CSV (Comma-Separated Values) reports provide a simple and lightweight format for storing test execution data in a tabular form.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can be easily imported into spreadsheets or databases for further analysis or processing.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CSV reports are useful when you need to extract specific data points or perform statistical analysis on test results.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Dashboard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Dashboard reports provide a summarized view of test execution results, highlighting key metrics and trends.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often include charts, graphs, and visual representations to provide a quick overview of test coverage, pass/fail ratios, and other important metrics.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7051041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Extent Reports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is a popular reporting framework for WebDriver that provides rich and interactive reports for test automation.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is built on top of the TestNG and JUnit frameworks and offers a comprehensive set of features to generate detailed and visually appealing reports.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Interactive Reports: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generates HTML reports that are highly interactive and user-friendly.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reports include detailed information about test execution, such as test case names, test status (pass/fail), execution time, error messages, screenshots (in case of failures), and more.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reports are designed to be visually appealing and provide a seamless navigation experience.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Dashboard View: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provides a dashboard view that presents a summary of test execution results in the form of charts and graphs.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dashboard view gives a quick overview of key metrics like test status, pass/fail ratios, and test coverage. This helps stakeholders to get an overall understanding of the test execution outcome.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6550628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Test Categorization: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allows you to categorize your tests into different groups, suites, or categories based on your project's needs.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helps in organizing and structuring your test cases, making it easier to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analyze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and report on specific subsets of tests.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Real-Time Updates: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supports real-time updates, which means the reports can be updated dynamically as the test execution progresses.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allows you to monitor the execution status and view live results while the tests are running.</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Customization: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provides extensive customization options to tailor the reports according to your requirements.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You can customize the report layout, styling, and add your own branding elements like logos, headers, and footers.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4195293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Extent reports and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Class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Extent Reports is a popular reporting framework in WebDriver that provides rich and interactive reports for test execution results.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offers features like customizable report layout, real-time updates, dashboard view, and seamless integration with test frameworks.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central component of Extent Reports is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class.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represents a single test case or a logical unit of test execution.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is an explanation of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class and its usage in WebDriver:</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Creation of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Objects: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To start using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you need to create an instance of it.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Adding Test Steps: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Once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object is created, you can add test steps using various methods like pass(), fail(), skip(), etc.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methods represent the outcome of each test step.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6797876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3.</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Logging Details: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You can log additional details, screenshots, or attachments related to each test step using the log() method. </a:t>
            </a:r>
          </a:p>
          <a:p>
            <a:endParaRPr lang="en-IN" sz="2400" kern="100" dirty="0">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4.</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Marking Test Status: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After executing all the test steps, you can mark the overall status of the test case using methods like pass(), fail(), or skip(). </a:t>
            </a:r>
          </a:p>
          <a:p>
            <a:pPr marL="742950" lvl="1" indent="-285750">
              <a:buFont typeface="+mj-lt"/>
              <a:buAutoNum type="alphaLcPeriod"/>
            </a:pP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Nested Test Steps: </a:t>
            </a:r>
          </a:p>
          <a:p>
            <a:pPr marL="742950" lvl="1" indent="-285750">
              <a:buFont typeface="+mj-lt"/>
              <a:buAutoNum type="alphaLcPeriod"/>
            </a:pP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supports nested test steps, which can be useful for hierarchical representation of test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You can create child test steps using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createNode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method.</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0114061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Methods of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ExtentReports</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Classes(</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startTest,endTest,Log</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Flush)</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ExtentReports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classes in WebDriver offer various methods to manage and customize the reports. </a:t>
            </a:r>
          </a:p>
          <a:p>
            <a:pPr marL="342900" lvl="0" indent="-342900">
              <a:buFont typeface="+mj-lt"/>
              <a:buAutoNum type="arabicPeriod"/>
            </a:pP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ExtentReports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Class: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startTest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testName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String description): </a:t>
            </a:r>
          </a:p>
          <a:p>
            <a:pPr marL="742950" lvl="1" indent="-285750">
              <a:buFont typeface="Courier New" panose="02070309020205020404" pitchFamily="49" charset="0"/>
              <a:buChar char="o"/>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Starts a new test and returns an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object.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endTest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test): </a:t>
            </a:r>
          </a:p>
          <a:p>
            <a:pPr marL="742950" lvl="1" indent="-285750">
              <a:buFont typeface="Courier New" panose="02070309020205020404" pitchFamily="49" charset="0"/>
              <a:buChar char="o"/>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Ends the specified test.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flush(): </a:t>
            </a:r>
          </a:p>
          <a:p>
            <a:pPr marL="742950" lvl="1" indent="-285750">
              <a:buFont typeface="Courier New" panose="02070309020205020404" pitchFamily="49" charset="0"/>
              <a:buChar char="o"/>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Flushes the test information to the report.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2384909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ExtentTest</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Class: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log(</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LogStatus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status, String details): </a:t>
            </a:r>
          </a:p>
          <a:p>
            <a:pPr lvl="1"/>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Logs the status and details of a particular test step.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log(</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LogStatus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status, String details, String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screenshotPath</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lvl="1"/>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Logs the status, details, and attaches a screenshot to the test step.</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log(</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LogStatus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status, String details, Throwable throwable): </a:t>
            </a:r>
          </a:p>
          <a:p>
            <a:pPr lvl="1"/>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Logs the status, details, and an exception associated with the test step.</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log(</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LogStatus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status, Markup markup):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Logs the status and details using HTML markup.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0312918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TestNG Framework</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Capturing screenshots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getScreenShotsAs</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Here's an explanation of how to use this method in WebDriver: </a:t>
            </a:r>
          </a:p>
          <a:p>
            <a:pPr marL="342900" lvl="0" indent="-342900">
              <a:buFont typeface="+mj-lt"/>
              <a:buAutoNum type="arabicPeriod"/>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Capturing a Screenshot: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To capture a screenshot in WebDriver, you can use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TakesScreenshot</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interface.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The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getScreenShotsAs</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method in Extent Reports requires an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OutputType</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parameter to specify the format of the screenshot (e.g., FILE, BYTES). </a:t>
            </a:r>
          </a:p>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2. Adding the Screenshot to Extent Report:</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Once you have captured the screenshot, you can add it to your Extent Report using the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test.log</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method with the appropriate log status and details.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0667549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Selenium Frameworks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is a powerful and popular automation testing tool for web applications.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enhance the capabilities of Selenium and make the automation process more efficient, various frameworks have been developed.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frameworks provide a structured approach to writing and managing Selenium test scripts, making it easier to maintain, scale, and collaborate on automation projects.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Here's an introduction to some popular Selenium frameworks: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is a widely used testing framework that offers advanced features for test management, parallel execution, test configuration, and reporting.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annotations for defining test methods, supports data-driven testing, and allows test execution in parallel.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TestNG integrates well with Selenium WebDriver and is compatible with various build tools.</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9175417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JUnit: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JUnit is a popular unit testing framework for Java applications.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annotations and assertions to define and verify test cases. </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Cucumber: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is a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-driven development (BDD) framework that enables collaboration between business stakeholders, developers, and testers.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uses a plain-text format called Gherkin to describe the application's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in terms of scenarios and steps. </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Grid:</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Grid is a distributed testing framework that enables running tests on multiple machines or browsers in parallel.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allows for cross-browser and cross-platform testing, making it easier to ensure the compatibility and responsiveness of web applications across different environments.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Page Object Model (POM):</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POM is a design pattern that promotes the creation of reusable and maintainable test code.</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5557995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Types of Selenium Framework</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There are several types of Selenium frameworks that are commonly used in test automation.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Each framework has its own unique features and benefits, catering to different needs and preferences.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1. Data-driven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data-driven framework focuses on separating the test data from the test scripts.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allows for testing different sets of data without modifying the test logic.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data is stored in external sources like Excel or CSV files, and the framework retrieves the data dynamically during test execution.</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Keyword-driven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keyword-driven framework involves creating a set of keywords or actions that represent different test steps or operations.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Test scripts are written using these keywords, making the test scenarios more readable and understandable.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framework maps the keywords to the actual test code implementation.</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0419553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a:t>
            </a:r>
            <a:r>
              <a:rPr lang="en-IN" sz="2400" kern="100" dirty="0">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Hybrid Framework:</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hybrid framework is a combination of different frameworks, such as data-driven and keyword-driven frameworks.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provides the flexibility to leverage the advantages of multiple frameworks based on the specific requirements of the application and the testing needs.</a:t>
            </a:r>
          </a:p>
          <a:p>
            <a:pPr marL="0" indent="0">
              <a:buNone/>
            </a:pP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9446569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Data-Driven Test Framework</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 data-driven test framework is a test automation framework that separates the test data from the test scripts.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allows for executing the same test logic with different sets of data, making test scenarios more flexible and reusable.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data can be stored in external sources like Excel sheets, CSV files, databases, or even JSON/XML files.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a data-driven test framework, the test scripts are designed to read the test data from the external sources and use it during test execution.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framework provides the necessary functionality to retrieve and manage the test data, ensuring that the tests are executed with the desired data combinations.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4349758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Benefits of a Data-Driven Test Framework:</a:t>
            </a:r>
          </a:p>
          <a:p>
            <a:pPr marL="0" lvl="0" indent="0">
              <a:buNone/>
            </a:pPr>
            <a:r>
              <a:rPr lang="en-IN" sz="2400" kern="100" dirty="0">
                <a:solidFill>
                  <a:schemeClr val="tx2"/>
                </a:solidFill>
                <a:latin typeface="Apple Symbols" panose="02000000000000000000" pitchFamily="2" charset="-79"/>
                <a:ea typeface="Apple Symbols" panose="02000000000000000000" pitchFamily="2" charset="-79"/>
                <a:cs typeface="Apple Symbols" panose="02000000000000000000" pitchFamily="2" charset="-79"/>
              </a:rPr>
              <a:t>1.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Reusability: Test scripts can be reused with different sets of data, reducing the effort required to create and maintain tests.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2.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Scalability: The framework can handle a large volume of test data, allowing for comprehensive test coverage.</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Flexibility: Test scenarios can be easily modified by updating the test data, without making changes to the test logic.</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Maintenance: Changes to the test data can be made independently of the test scripts, simplifying maintenance.</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Coverage: Different combinations of test data can be tested, including edge cases and boundary values.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Separation of Concerns: Test data and test logic are kept separate, promoting better code organization.</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6815284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Apache POI</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Apache POI is an open-source Java library that provides APIs for reading and writing data in Microsoft Office formats such as Excel, Word, and PowerPoint.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allows Java developers to create, modify, and extract data from Office documents programmatically.</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Key features and functionalities of Apache POI include: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Excel Manipulation: Apache POI provides comprehensive support for working with Excel files.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Word Processing: Apache POI includes APIs for working with Word documents.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PowerPoint Presentations: Apache POI allows you to create, modify, and extract data from PowerPoint presentations.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Reading and Writing Data: Apache POI provides APIs for reading and writing data in Office file formats.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Cross-platform Compatibility: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Apache POI is platform-independent and can be used on different operating systems such as Windows, macOS, and Linux.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58268356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Data Providers</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the context of test automation frameworks, a data provider is a mechanism that allows you to supply test data to your test methods or test cases.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helps in parameterizing tests and executing them with different sets of input data.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Data providers are commonly used in data-driven testing, where the same test logic is executed with multiple input data combinations.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Java-based testing frameworks like TestNG, data providers are typically implemented as methods that return test data in the form of arrays or objects.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These methods are annotated with @</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DataProvider</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to indicate that they serve as data providers for test methods.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2894333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Keyword-Driven Test Framework</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Keyword-driven testing is a test automation framework that allows testers to design and execute tests using a set of keywords or action words.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this framework, the test cases are separated from the test logic by defining keywords that represent specific test actions or operations.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basic idea behind a keyword-driven framework is to create a table or spreadsheet that maps keywords to specific test steps or actions. </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advantages of using a keyword-driven framework include: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Modularity: The test cases are modular and can be easily modified or reorganized by rearranging the keywords.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Reusability: Keywords can be reused across multiple test cases, reducing duplication of effort.</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Abstraction: The test cases are written in a language that is closer to the business domain, making them easier to understand for non-technical stakeholders.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Maintainability: Changes to the underlying implementation can be isolated within the framework, minimizing the impact on test cases.</a:t>
            </a:r>
          </a:p>
          <a:p>
            <a:pPr marL="342900" lvl="0" indent="-342900">
              <a:buFont typeface="+mj-lt"/>
              <a:buAutoNum type="romanUcPeriod"/>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10735298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Uses of Keyword-Driven Test Framework</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keyword-driven test framework offers several benefits and can be utilized in various scenarios.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Automation: The keyword-driven framework is primarily used for test automation.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Cross-Browser Testing: With the keyword-driven framework, you can define keywords for actions like opening a browser, navigating to a URL, interacting with web elements, and more.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Data-Driven Testing: The keyword-driven framework can be combined with data-driven testing techniques.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Maintenance and Reusability: The keyword-driven approach promotes modularity and reusability. Test cases are defined using keywords, which can be easily modified or rearranged.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Collaboration and Non-Technical Involvement: The keyword-driven framework enables collaboration between technical and non-technical stakeholders.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Reporting and Traceability: The keyword-driven framework can generate comprehensive test reports that provide insights into test execution status, test coverage, and failures. </a:t>
            </a:r>
            <a:b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b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These reports can help track the progress of testing activities and provide visibility into the overall quality of the application.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138566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I</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ntroduction to Hybrid Driven Test Framework</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hybrid-driven test framework is a combination of data-driven and keyword-driven frameworks.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leverages the strengths of both frameworks to create a flexible and scalable testing solution.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a hybrid-driven framework, test cases are designed using keywords, and the test data is stored in external data sources such as spreadsheets or databases.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Keyword Repository: Create a repository that maps keywords to the corresponding test steps or actions, similar to the keyword-driven framework.</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Data Source: Use external data sources such as spreadsheets or databases to store the test data.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 Design: Design test cases using keywords from the repository, just like in the keyword-driven framework.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Execution Engine: Develop an execution engine that reads the test cases, retrieves keywords and test data, and executes the test steps accordingly.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Modularity and Reusability: The hybrid-driven framework promotes modularity and reusability by allowing the reuse of keywords and test data across multiple test cases</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7109654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Automation Frameworks-II</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Flexibility and Scalability: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hybrid-driven framework provides flexibility to handle complex test scenarios by combining keyword-driven and data-driven approaches.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allows for easy customization and scalability as the testing needs evolve.</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Reporting and Logging: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Generate comprehensive reports that provide insights into the test execution, including test case status, failures, and other relevant details.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0219774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Why Page Object Model?</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Page Object Model (POM) is a design pattern widely used in Selenium WebDriver automation testing.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aims to enhance the maintainability, reusability, and readability of test automation code by providing a structured and modular approach to interact with web pages.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A</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dvantages of using the Page Object Model in WebDriver automation:</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Code Reusability: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With the POM, web pages are represented as separate classes, often referred to as "Page Objects."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Page Objects encapsulate the elements and related functionality of a specific web page.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Modularity: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POM breaks down the application's UI into smaller, manageable components represented by Page Objects.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Each Page Object focuses on a specific web page or a logical section of it.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5128110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Maintainability: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When there are changes in the application's UI or functionality, updates can be made easily by modifying the corresponding Page Objects rather than searching for and updating the affected code across multiple test cases.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Readability: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POM enhances the readability of test automation code by providing a clear separation between the test logic and the underlying implementation details of the web pages.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Improved Collaboration: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POM enables better collaboration between developers and testers.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Enhanced Test Stability: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By using the POM, the impact of UI changes is localized to the corresponding Page Objects.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24757251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is Page Object Model?</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Page Object Model (POM) is a design pattern used in Selenium WebDriver automation testing.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is a way to structure and organize the automation code to improve the maintainability, reusability, and readability of tests.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the Page Object Model, each web page in the application under test is represented as a separate class called a “Page Object.”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Page Object encapsulates the elements and functionality of the web page, providing methods to interact with those elements and perform actions on them.</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main idea behind the Page Object Model is to separate the test code from the underlying implementation details of the web pages.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This separation allows for better maintainability and reduces the impact of changes in the application's UI.</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cases interact with the web elements through the Page Objects, using the methods defined in the Page Objects rather than directly accessing the web elements in the tests.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7121493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What is Page Factory?</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Page Factory is a concept introduced in Selenium WebDriver to simplify and enhance the implementation of the Page Object Model (POM) design pattern.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provides a convenient way to initialize and locate web elements in the Page Objects.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Page Factory class in Selenium WebDriver provides annotations that can be used to identify and initialize web elements on a web page.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By using these annotations, the initialization of web elements is automated, reducing the need for repetitive code.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use Page Factory, the following steps need to be followed:</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Import the required classes: Import the necessary classes from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org.openqa.selenium.support</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package, such as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PageFactory</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and the annotations like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FindBy</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FindBys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CacheLookup</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etc.</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Initialize the Page Factory: In the constructor of the Page Object class, use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PageFactory.initElements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method to initialize the elements on the page.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annotations to locate elements: Annotate the web elements on the page with the appropriate annotations provided by Page Factory.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5794131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Advantages of POM </a:t>
            </a:r>
            <a:r>
              <a:rPr lang="en-IN" sz="2400" kern="100" dirty="0" err="1">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Webdriver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Page Object Model (POM) is a popular design pattern used in Selenium WebDriver for building scalable and maintainable test automation frameworks. </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Advantages: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Improved code organization: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Reusability of code: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Easy maintenance: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Enhanced collaboration: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Improved test readability: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Easy troubleshooting: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Scalability: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Parallel execution: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803700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Implementing Hybrid Test Framework</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Implementing a Hybrid Test Framework using Selenium WebDriver involves combining multiple testing approaches, such as Data-Driven Testing, Keyword-Driven Testing, and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-Driven Testing, to create a flexible and robust framework.</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Here's an overview of how you can implement a Hybrid Test Framework:</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Identify Test Scenarios: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Identify the test scenarios for your application.</a:t>
            </a:r>
          </a:p>
          <a:p>
            <a:pPr marL="1143000" lvl="2" indent="-228600">
              <a:buFont typeface="+mj-lt"/>
              <a:buAutoNum type="romanL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Divide the scenarios into logical groups based on their functionality.</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Design Test Data:</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Define the test data required for each test scenario.</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Organize the test data in a structured format, such as Excel sheets or CSV files.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Create Page Objects: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Implement the Page Object Model (POM) to represent the web pages of your application.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Create separate classes for each page and define the web elements and corresponding methods.</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402678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Implement Test Scripts: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Write test scripts using a combination of Data-Driven and Keyword-Driven approaches.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 the Page Objects to interact with the web elements and perform actions on the pages.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Implement Test Configuration: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Define a configuration file or class to manage test environment settings, such as browser type, URL, timeouts, etc.</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Integrate Reporting and Logging: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Integrate a reporting and logging mechanism to capture test execution results and generate reports.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Implement Error Handling and Exception Management: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Implement error handling and exception management techniques to handle unexpected exceptions and failures during test execution.</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46536669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Page Object Model</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Implement Test Configuration and Management:</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Implement test configuration management to handle different environments (e.g., Dev, QA, Staging, Production).</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9. Implement Test Execution Engine: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Create a test execution engine class to orchestrate the execution of test scripts.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Initialize the WebDriver and other required objects.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Configure the test environment and load test data.</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Call the test scripts and pass the required parameters.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10.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Run and Monitor Tests: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Execute the test scripts using a test runner or build automation tool, such as TestNG or Maven.</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1084024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Agile Testing</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Agile Testing is a testing approach that aligns with the principles of Agile software development methodologies.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emphasizes collaboration, iterative development, and early and continuous testing throughout the software development lifecycle.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When implementing Agile Testing with Selenium</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WebDriver, here are some key considerations: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Embrace Iterative Testing:</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Collaborate with the Agile Team:</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Continuous Integration and Continuous Testing:</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Prioritize Test Cases: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 Test Automation:</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Agile Test Design Techniques:</a:t>
            </a:r>
          </a:p>
          <a:p>
            <a:pPr marL="342900" indent="-342900">
              <a:buFont typeface="+mj-lt"/>
              <a:buAutoNum type="arabicPeriod"/>
            </a:pPr>
            <a:r>
              <a:rPr lang="en-IN" sz="1800" kern="100" dirty="0">
                <a:effectLst/>
                <a:latin typeface="Cambria" panose="02040503050406030204" pitchFamily="18" charset="0"/>
                <a:ea typeface="Calibri" panose="020F0502020204030204" pitchFamily="34" charset="0"/>
                <a:cs typeface="Calibri" panose="020F0502020204030204" pitchFamily="34" charset="0"/>
              </a:rPr>
              <a:t>Continuous Feedback and Adaptation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38887249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Behaviour Driven Development (BDD)</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Behaviour-Driven Development (BDD) is a software development approach that emphasizes collaboration and communication between developers, testers, and business stakeholders.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aims to align business requirements with the software development process.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When implementing BDD with Selenium WebDriver, here are some key points to consider:</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Shared Understanding:</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BDD encourages collaboration among stakeholders to ensure a shared understanding of the desired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the software.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Business stakeholders, developers, and testers work together to define and refine the application's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using a common language.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User Stories and Scenarios: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BDD relies on user stories to capture functional requirements from a user's perspective.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User stories are typically written in a structured format called the "Given-When-Then" format, which defines the preconditions, actions, and expected outcomes of a specific scenario.</a:t>
            </a:r>
          </a:p>
          <a:p>
            <a:pPr marL="0" indent="0">
              <a:buNone/>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84532636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Feature Files: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BDD scenarios are typically written in feature files using a natural language syntax, such as Gherkin.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Feature files serve as a documentation and communication tool, allowing stakeholders to understand and review the expected behaviour of the software.</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Step Definitions: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Step definitions map the steps in the feature files to the corresponding automation code.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Each step in a scenario is implemented as a reusable method in the step definition files.</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Automation with Selenium WebDriver: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WebDriver is used to automate the actions and validations specified in the BDD scenarios.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Each step in a scenario is mapped to the corresponding Selenium WebDriver code to interact with the web application.</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Integration with BDD Frameworks: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BDD frameworks like Cucumber,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JBehave</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or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SpecFlow</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can be used to implement BDD with Selenium WebDriver.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frameworks provide tools and libraries to parse the feature files, execute the scenarios, and generate reports.</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3788476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Collaboration and Feedback</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BDD encourages continuous collaboration between developers, testers, and business stakeholders throughout the development process.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Stakeholders can review and provide feedback on the feature files, ensuring that the expected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is accurately captured.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BDD scenarios serve as a common reference point for discussions and clarifications, promoting better communication and shared understanding.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57131367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Cucumber Fundamentals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Cucumber is a tool that supports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-Driven Development (BDD) by enabling teams to define and execute executable specifications in a human-readable format.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allows collaboration among developers, testers, and business stakeholders by using a common language to describe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of the software.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Fundamentals of Cucumber with WebDriver:</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Feature Files: Cucumber uses feature files to define the desired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the software.</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Feature files are written in a plain text format and use the Gherkin language, which is a business-readable domain-specific language.</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Gherkin Syntax: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Gherkin is a structured language used to write feature files.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follows a Given-When-Then format, also known as the "GWT" or "BDD" syntax.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Given step describes the initial state or preconditions, the When step describes the actions performed, and the Then step describes the expected outcomes.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85449791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Step Definitions: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Step definitions map the steps mentioned in the feature files to the corresponding automation code.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Step definitions are implemented using programming languages such as Java, and they define the actions to be performed for each step.</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Scenario Outline: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provides a Scenario Outline feature that allows defining a template for scenarios with varying input values.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uses placeholders, known as data tables, to provide different input values for each scenario iteration.</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5.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Tags: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allows the use of tags to organize and filter scenarios.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Tags can be used to group related scenarios or to specify certain scenarios to be included or excluded during test execution.</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Data Tables: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supports the use of data tables in feature files.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Data tables allow defining tabular data that can be used as input or output for scenarios.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80423360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Hooks: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provides hooks that allow executing certain code before or after specific events, such as scenario execution or test suite initialization.</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Hooks can be used for setup and teardown activities or for capturing screenshots or logs.</a:t>
            </a:r>
          </a:p>
          <a:p>
            <a:pPr marL="0" lvl="0" indent="0">
              <a:buNone/>
            </a:pPr>
            <a:endParaRPr lang="en-IN" sz="2400" kern="100" dirty="0">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8. Reporting: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generates detailed reports that provide insights into the test execution results.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can include information such as the number of scenarios passed, failed, or pending, as well as execution times and error details.</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0545766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Gherkin Syntax in Cucumber</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Gherkin is a domain-specific language used in Cucumber to write feature files.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follows a structured syntax that is easy to read and understand by both technical and non-technical stakeholders.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The Gherkin syntax consists of keywords and plain text, which together form the scenarios and steps in the feature files.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Here are the main keywords used in Gherkin syntax:</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Feature: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Feature keyword is used to define a high-level description of the software feature under test.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typically includes the name of the feature and a brief description.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Scenario: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Scenario keyword is used to define an individual test scenario or test case.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represents a specific use case or behaviour that needs to be tested.</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3043234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Given, When, Then, And, But: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keywords are used to define steps within a scenario.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They describe the preconditions (Given), actions (When), and expected outcomes (Then) of the test. Additional steps can be specified using the and But keywords.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Background: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Background keyword is used to define a set of common preconditions that are applicable to all scenarios within a feature.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helps to avoid repeating the same steps in each scenario.</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5. Scenario Outline: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Scenario Outline keyword is used when you have multiple similar scenarios with different inputs or data sets.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263298394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Cucumber Options</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Cucumber, the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CucumberOptions</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annotation is used to configure various options for the test execution.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It allows you to specify features, glue code, tags, output formats, and other settings.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07454007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Step Definition for Cucumber Feature File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Cucumber, step definitions are the actual code implementation of the steps defined in the feature file.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Step definitions are written in a programming language (such as Java) and are responsible for executing the actions and validations specified in the feature file. </a:t>
            </a:r>
          </a:p>
          <a:p>
            <a:pPr marL="342900" lvl="0" indent="-342900">
              <a:buFont typeface="+mj-lt"/>
              <a:buAutoNum type="romanU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Scenario Outline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In Cucumber, a Scenario Outline is used when you want to run the same scenario multiple times with different sets of data.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II. Data tables in cucumber</a:t>
            </a:r>
          </a:p>
          <a:p>
            <a:r>
              <a:rPr lang="en-IN" sz="2400" kern="100" dirty="0">
                <a:latin typeface="Apple Symbols" panose="02000000000000000000" pitchFamily="2" charset="-79"/>
                <a:ea typeface="Apple Symbols" panose="02000000000000000000" pitchFamily="2" charset="-79"/>
                <a:cs typeface="Apple Symbols" panose="02000000000000000000" pitchFamily="2" charset="-79"/>
              </a:rPr>
              <a:t>I</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n Cucumber, data tables are used to provide tabular data as input to a step in a scenario. </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Data tables are useful when you need to pass multiple values or sets of data to a step, such as when testing data-driven scenarios.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7883875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Advantages of Cucumber</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Cucumber WebDriver offers several advantages that make it a popular choice for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-driven development (BDD) and test automation:</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Readability: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feature files written in Gherkin syntax are highly readable and understandable by both technical and non-technical stakeholders.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promotes collaboration and ensures clear communication between team members.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Business-Readable Tests: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With Cucumber, tests are written in a business-readable format, allowing stakeholders and domain experts to contribute to the test scenarios.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promotes a shared understanding of the requirements and helps bridge the gap between technical and non-technical team members.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Reusability: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promotes the concept of reusable step definitions, allowing you to write and reuse steps across different feature files and scenarios.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reduces duplication and improves maintainability of the test codebase.</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98648236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Test Documentation: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feature files serve as living documentation of the application's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Integration with WebDriver: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seamlessly integrates with WebDriver, allowing you to automate web-based scenarios and interact with the application's UI.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You can write step definitions that use WebDriver API methods to perform actions on web elements, validate expected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and handle assertions.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6.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Test Reporting: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generates comprehensive test reports that provide detailed insights into the execution status and test results.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These reports can be easily shared with stakeholders and team members to track the progress of the tests and identify any issues.</a:t>
            </a:r>
          </a:p>
          <a:p>
            <a:pPr mar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Test Parallelization: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supports parallel execution of scenarios, allowing you to run tests concurrently and reduce the overall test execution time. </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20145170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latin typeface="Apple Symbols" panose="02000000000000000000" pitchFamily="2" charset="-79"/>
                <a:ea typeface="Apple Symbols" panose="02000000000000000000" pitchFamily="2" charset="-79"/>
                <a:cs typeface="Apple Symbols" panose="02000000000000000000" pitchFamily="2" charset="-79"/>
              </a:rPr>
              <a:t>I</a:t>
            </a: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mplementing BDD Framework using Cucumber</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Implementing a BDD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-Driven Development) framework using Cucumber WebDriver involves the following steps:</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Set up the Project: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Create a new project in your preferred IDE (e.g., Eclipse, IntelliJ) and add the necessary dependencies for Cucumber and WebDriver.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Create Feature Files: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Write your feature files using the Gherkin syntax. Feature files describe the </a:t>
            </a:r>
            <a:r>
              <a:rPr lang="en-IN" kern="100" dirty="0" err="1">
                <a:effectLst/>
                <a:latin typeface="Apple Symbols" panose="02000000000000000000" pitchFamily="2" charset="-79"/>
                <a:ea typeface="Apple Symbols" panose="02000000000000000000" pitchFamily="2" charset="-79"/>
                <a:cs typeface="Apple Symbols" panose="02000000000000000000" pitchFamily="2" charset="-79"/>
              </a:rPr>
              <a:t>behavior</a:t>
            </a: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 of the application in a human-readable format.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Define Step Definitions: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Create step definition classes that map the steps defined in the feature files to the corresponding automation code.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Configure Test Runner: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Set up the Cucumber test runner class that defines the test execution flow. </a:t>
            </a:r>
          </a:p>
          <a:p>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39752659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Implement Test Cases: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Write the actual test cases by combining the steps defined in the feature files with the automation logic in the step definition classes.</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Use WebDriver methods to interact with the application, perform actions, and validate the expected results.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6. Execute Tests: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Run the Cucumber test runner class to execute the BDD tests.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will read the feature files, match the steps with the corresponding step definitions, and execute the automation code. </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7. </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Analyze</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Test Results: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Review the test results to identify any failures or issues.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Cucumber provides detailed information about which steps passed or failed, along with any error messages or stack traces.</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8.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Enhance the Framework: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Customize and enhance the BDD framework as needed. </a:t>
            </a: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53292120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Introduction to Selenium Grid</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Selenium Grid is a tool in the Selenium suite that allows you to run tests in parallel across different browsers, operating systems, and machines.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It enables you to distribute your test execution on multiple nodes, reducing the overall execution time and improving the efficiency of your test suite.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Hub: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Selenium Grid hub acts as a central control point that manages the distribution of test execution across different nodes.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It receives test requests and delegates them to available nodes for execution.</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Nodes: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Nodes are the machines or devices where the actual test execution takes place.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Each node has a specific configuration, such as the browser version and operating system, and registers itself with the hub.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Nodes can be located on the same machine as the hub or on remote machines connected to the network</a:t>
            </a:r>
            <a:r>
              <a:rPr lang="en-IN" kern="100" dirty="0">
                <a:latin typeface="Apple Symbols" panose="02000000000000000000" pitchFamily="2" charset="-79"/>
                <a:ea typeface="Apple Symbols" panose="02000000000000000000" pitchFamily="2" charset="-79"/>
                <a:cs typeface="Apple Symbols" panose="02000000000000000000" pitchFamily="2" charset="-79"/>
              </a:rPr>
              <a:t>.</a:t>
            </a:r>
            <a:endParaRPr lang="en-IN"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417210584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3. Grid Configuration: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grid configuration defines the capabilities of each node, including the browser type, version, platform, and any additional configuration parameters.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This information is used by the hub to assign tests to appropriate nodes based on their capabilities.</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4. Test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When a test is triggered, the hub receives the request and looks for an available node that matches the desired capabilities.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Once a compatible node is found, the test script is sent to that node for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The node launches the specified browser and performs the test steps as instructed.</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5. Parallel Execution: </a:t>
            </a:r>
          </a:p>
          <a:p>
            <a:pPr marL="742950" lvl="1" indent="-285750">
              <a:buFont typeface="+mj-lt"/>
              <a:buAutoNum type="alphaLcPeriod"/>
            </a:pPr>
            <a:r>
              <a:rPr lang="en-IN" kern="100" dirty="0">
                <a:effectLst/>
                <a:latin typeface="Apple Symbols" panose="02000000000000000000" pitchFamily="2" charset="-79"/>
                <a:ea typeface="Apple Symbols" panose="02000000000000000000" pitchFamily="2" charset="-79"/>
                <a:cs typeface="Apple Symbols" panose="02000000000000000000" pitchFamily="2" charset="-79"/>
              </a:rPr>
              <a:t>Selenium Grid enables parallel execution by distributing tests across multiple nodes simultaneously. </a:t>
            </a:r>
          </a:p>
          <a:p>
            <a:pPr marL="0" indent="0">
              <a:buNone/>
            </a:pP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345155434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solidFill>
                  <a:srgbClr val="00B050"/>
                </a:solidFill>
                <a:effectLst/>
                <a:latin typeface="Apple Symbols" panose="02000000000000000000" pitchFamily="2" charset="-79"/>
                <a:ea typeface="Apple Symbols" panose="02000000000000000000" pitchFamily="2" charset="-79"/>
                <a:cs typeface="Apple Symbols" panose="02000000000000000000" pitchFamily="2" charset="-79"/>
              </a:rPr>
              <a:t>Deploy a Grid</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To deploy a Selenium Grid, you need to set up a hub and one or more nodes. Here are the steps to deploy a Selenium Grid: </a:t>
            </a:r>
          </a:p>
          <a:p>
            <a:pPr marL="342900" lvl="0" indent="-342900">
              <a:buFont typeface="+mj-lt"/>
              <a:buAutoNum type="arabicPeriod"/>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Set up the Hub: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Download the Selenium Server standalone JAR file from the Selenium website (https://</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www.selenium.dev</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/downloads/).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Open a command prompt or terminal and navigate to the directory where the JAR file is located.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Start the hub by running the following command: java -jar selenium-server-</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standalone.jar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-role hub</a:t>
            </a:r>
          </a:p>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2. Set up the Nodes: </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On each machine where you want to run the nodes, ensure that you have the necessary browser and WebDriver configurations in place.</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Open a command prompt or terminal on each machine and navigate to the directory where the Selenium Server standalone JAR file is located.</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Start the node by running the following command: java -jar selenium-server-</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standalone.jar</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 -role node -hub http://&lt;hub-</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ip</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&gt;:&lt;hub-port&gt;/grid/register</a:t>
            </a:r>
          </a:p>
          <a:p>
            <a:pPr marL="342900" lvl="0" indent="-342900">
              <a:buFont typeface="Symbol" pitchFamily="2" charset="2"/>
              <a:buChar char=""/>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a:p>
            <a:pPr marL="342900" lvl="0" indent="-342900">
              <a:buFont typeface="Symbol" pitchFamily="2" charset="2"/>
              <a:buChar char=""/>
            </a:pP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4018905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B495-57EA-11D9-E593-4DAE20C096A8}"/>
              </a:ext>
            </a:extLst>
          </p:cNvPr>
          <p:cNvSpPr>
            <a:spLocks noGrp="1"/>
          </p:cNvSpPr>
          <p:nvPr>
            <p:ph type="title"/>
          </p:nvPr>
        </p:nvSpPr>
        <p:spPr>
          <a:xfrm>
            <a:off x="0" y="1"/>
            <a:ext cx="12192000" cy="656965"/>
          </a:xfrm>
        </p:spPr>
        <p:txBody>
          <a:bodyPr>
            <a:normAutofit/>
          </a:bodyPr>
          <a:lstStyle/>
          <a:p>
            <a:r>
              <a:rPr lang="en-IN" sz="3200" kern="100" dirty="0">
                <a:solidFill>
                  <a:srgbClr val="0070C0"/>
                </a:solidFill>
                <a:latin typeface="Apple Symbols" panose="02000000000000000000" pitchFamily="2" charset="-79"/>
                <a:ea typeface="Apple Symbols" panose="02000000000000000000" pitchFamily="2" charset="-79"/>
                <a:cs typeface="Apple Symbols" panose="02000000000000000000" pitchFamily="2" charset="-79"/>
              </a:rPr>
              <a:t> </a:t>
            </a:r>
            <a:r>
              <a:rPr lang="en-IN" sz="3200" kern="100" dirty="0">
                <a:solidFill>
                  <a:srgbClr val="0070C0"/>
                </a:solidFill>
                <a:effectLst/>
                <a:latin typeface="Apple Symbols" panose="02000000000000000000" pitchFamily="2" charset="-79"/>
                <a:ea typeface="Apple Symbols" panose="02000000000000000000" pitchFamily="2" charset="-79"/>
                <a:cs typeface="Apple Symbols" panose="02000000000000000000" pitchFamily="2" charset="-79"/>
              </a:rPr>
              <a:t>BDD Framework with Cucumber and Selenium Grid</a:t>
            </a:r>
          </a:p>
        </p:txBody>
      </p:sp>
      <p:sp>
        <p:nvSpPr>
          <p:cNvPr id="3" name="Content Placeholder 2">
            <a:extLst>
              <a:ext uri="{FF2B5EF4-FFF2-40B4-BE49-F238E27FC236}">
                <a16:creationId xmlns:a16="http://schemas.microsoft.com/office/drawing/2014/main" id="{8FFB4460-0360-234B-5B47-7CA3D2A8A689}"/>
              </a:ext>
            </a:extLst>
          </p:cNvPr>
          <p:cNvSpPr>
            <a:spLocks noGrp="1"/>
          </p:cNvSpPr>
          <p:nvPr>
            <p:ph idx="1"/>
          </p:nvPr>
        </p:nvSpPr>
        <p:spPr>
          <a:xfrm>
            <a:off x="92597" y="725512"/>
            <a:ext cx="12014522" cy="6045678"/>
          </a:xfrm>
        </p:spPr>
        <p:txBody>
          <a:bodyPr>
            <a:noAutofit/>
          </a:bodyPr>
          <a:lstStyle/>
          <a:p>
            <a:pPr marL="0" lvl="0" indent="0">
              <a:buNone/>
            </a:pP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Replace &lt;hub-</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ip</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&gt; and &lt;hub-port&gt; with the IP address and port of the hub.</a:t>
            </a:r>
          </a:p>
          <a:p>
            <a:pPr marL="0" lv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3.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Verify the Grid Setup:</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Open a web browser and navigate to the hub's console at http://&lt;hub-</a:t>
            </a:r>
            <a:r>
              <a:rPr lang="en-IN" sz="2400" kern="100" dirty="0" err="1">
                <a:effectLst/>
                <a:latin typeface="Apple Symbols" panose="02000000000000000000" pitchFamily="2" charset="-79"/>
                <a:ea typeface="Apple Symbols" panose="02000000000000000000" pitchFamily="2" charset="-79"/>
                <a:cs typeface="Apple Symbols" panose="02000000000000000000" pitchFamily="2" charset="-79"/>
              </a:rPr>
              <a:t>ip</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&gt;:&lt;hub-port&gt;/grid/console. You should see the hub and connected nodes listed.</a:t>
            </a:r>
          </a:p>
          <a:p>
            <a:pPr marL="0" indent="0">
              <a:buNone/>
            </a:pPr>
            <a:r>
              <a:rPr lang="en-IN" sz="2400" kern="100" dirty="0">
                <a:latin typeface="Apple Symbols" panose="02000000000000000000" pitchFamily="2" charset="-79"/>
                <a:ea typeface="Apple Symbols" panose="02000000000000000000" pitchFamily="2" charset="-79"/>
                <a:cs typeface="Apple Symbols" panose="02000000000000000000" pitchFamily="2" charset="-79"/>
              </a:rPr>
              <a:t>4. </a:t>
            </a:r>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Configure and Run Tests:</a:t>
            </a:r>
          </a:p>
          <a:p>
            <a:r>
              <a:rPr lang="en-IN" sz="2400" kern="100" dirty="0">
                <a:effectLst/>
                <a:latin typeface="Apple Symbols" panose="02000000000000000000" pitchFamily="2" charset="-79"/>
                <a:ea typeface="Apple Symbols" panose="02000000000000000000" pitchFamily="2" charset="-79"/>
                <a:cs typeface="Apple Symbols" panose="02000000000000000000" pitchFamily="2" charset="-79"/>
              </a:rPr>
              <a:t>Update your test scripts or test automation framework to use the remote WebDriver and specify the desired capabilities for the desired browser and platform.</a:t>
            </a:r>
          </a:p>
          <a:p>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Use the hub's URL (http://&lt;hub-</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ip</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&gt;:&lt;hub-port&gt;/</a:t>
            </a:r>
            <a:r>
              <a:rPr lang="en-IN" sz="2400" dirty="0" err="1">
                <a:effectLst/>
                <a:latin typeface="Apple Symbols" panose="02000000000000000000" pitchFamily="2" charset="-79"/>
                <a:ea typeface="Apple Symbols" panose="02000000000000000000" pitchFamily="2" charset="-79"/>
                <a:cs typeface="Apple Symbols" panose="02000000000000000000" pitchFamily="2" charset="-79"/>
              </a:rPr>
              <a:t>wd</a:t>
            </a:r>
            <a:r>
              <a:rPr lang="en-IN" sz="2400" dirty="0">
                <a:effectLst/>
                <a:latin typeface="Apple Symbols" panose="02000000000000000000" pitchFamily="2" charset="-79"/>
                <a:ea typeface="Apple Symbols" panose="02000000000000000000" pitchFamily="2" charset="-79"/>
                <a:cs typeface="Apple Symbols" panose="02000000000000000000" pitchFamily="2" charset="-79"/>
              </a:rPr>
              <a:t>/hub) as the WebDriver's remote URL. </a:t>
            </a:r>
            <a:endParaRPr lang="en-IN" sz="2400" kern="100" dirty="0">
              <a:effectLst/>
              <a:latin typeface="Apple Symbols" panose="02000000000000000000" pitchFamily="2" charset="-79"/>
              <a:ea typeface="Apple Symbols" panose="02000000000000000000" pitchFamily="2" charset="-79"/>
              <a:cs typeface="Apple Symbols" panose="02000000000000000000" pitchFamily="2" charset="-79"/>
            </a:endParaRPr>
          </a:p>
        </p:txBody>
      </p:sp>
      <p:pic>
        <p:nvPicPr>
          <p:cNvPr id="4" name="Picture 3" descr="Logo&#10;&#10;Description automatically generated">
            <a:extLst>
              <a:ext uri="{FF2B5EF4-FFF2-40B4-BE49-F238E27FC236}">
                <a16:creationId xmlns:a16="http://schemas.microsoft.com/office/drawing/2014/main" id="{56F09E4F-E157-F425-B9C4-45AD5BC658A7}"/>
              </a:ext>
            </a:extLst>
          </p:cNvPr>
          <p:cNvPicPr>
            <a:picLocks noChangeAspect="1"/>
          </p:cNvPicPr>
          <p:nvPr/>
        </p:nvPicPr>
        <p:blipFill>
          <a:blip r:embed="rId2"/>
          <a:stretch>
            <a:fillRect/>
          </a:stretch>
        </p:blipFill>
        <p:spPr>
          <a:xfrm>
            <a:off x="9627944" y="68546"/>
            <a:ext cx="2479175" cy="656965"/>
          </a:xfrm>
          <a:prstGeom prst="rect">
            <a:avLst/>
          </a:prstGeom>
        </p:spPr>
      </p:pic>
    </p:spTree>
    <p:extLst>
      <p:ext uri="{BB962C8B-B14F-4D97-AF65-F5344CB8AC3E}">
        <p14:creationId xmlns:p14="http://schemas.microsoft.com/office/powerpoint/2010/main" val="17645956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 2013 - 2022</Template>
  <TotalTime>29524</TotalTime>
  <Words>19802</Words>
  <Application>Microsoft Office PowerPoint</Application>
  <PresentationFormat>Widescreen</PresentationFormat>
  <Paragraphs>1361</Paragraphs>
  <Slides>141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141</vt:i4>
      </vt:variant>
    </vt:vector>
  </HeadingPairs>
  <TitlesOfParts>
    <vt:vector size="149" baseType="lpstr">
      <vt:lpstr>Apple Symbols</vt:lpstr>
      <vt:lpstr>Arial</vt:lpstr>
      <vt:lpstr>Calibri</vt:lpstr>
      <vt:lpstr>Calibri Light</vt:lpstr>
      <vt:lpstr>Cambria</vt:lpstr>
      <vt:lpstr>Courier New</vt:lpstr>
      <vt:lpstr>Symbol</vt:lpstr>
      <vt:lpstr>Office Theme</vt:lpstr>
      <vt:lpstr>Webdriver</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and its Components</vt:lpstr>
      <vt:lpstr>Selenium WebDriver and Locators</vt:lpstr>
      <vt:lpstr>Selenium WebDriver and Locators</vt:lpstr>
      <vt:lpstr>Selenium WebDriver and Locators</vt:lpstr>
      <vt:lpstr>Selenium WebDriver and Locators</vt:lpstr>
      <vt:lpstr>Selenium WebDriver and Locators</vt:lpstr>
      <vt:lpstr>Selenium 4 Architecture</vt:lpstr>
      <vt:lpstr>Interacting with Web Elements Part-I and Waits in Selenium</vt:lpstr>
      <vt:lpstr>Interacting with Web Elements Part-I and Waits in Selenium</vt:lpstr>
      <vt:lpstr>Selenium WebDriver and Locators</vt:lpstr>
      <vt:lpstr>Selenium WebDriver and Locators</vt:lpstr>
      <vt:lpstr>Interacting with Web Elements Part-I and Waits in Selenium</vt:lpstr>
      <vt:lpstr>Selenium WebDriver and Locators</vt:lpstr>
      <vt:lpstr>Selenium WebDriver and Locators</vt:lpstr>
      <vt:lpstr>Selenium WebDriver and Locators</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 and Waits in Selenium</vt:lpstr>
      <vt:lpstr>Interacting with Web Elements Part-II</vt:lpstr>
      <vt:lpstr>Interacting with Web Elements Part-II</vt:lpstr>
      <vt:lpstr>Interacting with Web Elements Part-II</vt:lpstr>
      <vt:lpstr>Interacting with Web Elements Part-II</vt:lpstr>
      <vt:lpstr>Interacting with Web Elements Part-II</vt:lpstr>
      <vt:lpstr>Interacting with Web Elements Part-II</vt:lpstr>
      <vt:lpstr>Interacting with Web Elements Part-II</vt:lpstr>
      <vt:lpstr> Interacting with Web Elements Part-III</vt:lpstr>
      <vt:lpstr> Interacting with Web Elements Part-III</vt:lpstr>
      <vt:lpstr> Interacting with Web Elements Part-III</vt:lpstr>
      <vt:lpstr> Interacting with Web Elements Part-III</vt:lpstr>
      <vt:lpstr> Interacting with Web Elements Part-III</vt:lpstr>
      <vt:lpstr> Interacting with Web Elements Part-III</vt:lpstr>
      <vt:lpstr> Interacting with Web Elements Part-III</vt:lpstr>
      <vt:lpstr> Interacting with Web Elements Part-III</vt:lpstr>
      <vt:lpstr> Interacting with Web Elements Part-III</vt:lpstr>
      <vt:lpstr>Robot Class to handle window operations </vt:lpstr>
      <vt:lpstr>Robot Class to handle window operations </vt:lpstr>
      <vt:lpstr>Robot Class to handle window operations </vt:lpstr>
      <vt:lpstr>Robot Class to handle window operations </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TestNG Framework</vt:lpstr>
      <vt:lpstr> Automation Frameworks-I</vt:lpstr>
      <vt:lpstr> Automation Frameworks-I</vt:lpstr>
      <vt:lpstr> Automation Frameworks-I</vt:lpstr>
      <vt:lpstr> Automation Frameworks-I</vt:lpstr>
      <vt:lpstr> Automation Frameworks-I</vt:lpstr>
      <vt:lpstr> Automation Frameworks-I</vt:lpstr>
      <vt:lpstr> Automation Frameworks-I</vt:lpstr>
      <vt:lpstr> Automation Frameworks-I</vt:lpstr>
      <vt:lpstr> Automation Frameworks-II</vt:lpstr>
      <vt:lpstr> Automation Frameworks-II</vt:lpstr>
      <vt:lpstr> Automation Frameworks-II</vt:lpstr>
      <vt:lpstr> Automation Frameworks-II</vt:lpstr>
      <vt:lpstr> Page Object Model</vt:lpstr>
      <vt:lpstr> Page Object Model</vt:lpstr>
      <vt:lpstr> Page Object Model</vt:lpstr>
      <vt:lpstr> Page Object Model</vt:lpstr>
      <vt:lpstr> Page Object Model</vt:lpstr>
      <vt:lpstr> Page Object Model</vt:lpstr>
      <vt:lpstr> Page Object Model</vt:lpstr>
      <vt:lpstr> Page Object Model</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lpstr> BDD Framework with Cucumber and Selenium Grid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Pseudo coding</dc:title>
  <dc:creator>pooja mourya</dc:creator>
  <cp:lastModifiedBy>Lenovo</cp:lastModifiedBy>
  <cp:revision>181</cp:revision>
  <dcterms:created xsi:type="dcterms:W3CDTF">2023-04-10T11:26:45Z</dcterms:created>
  <dcterms:modified xsi:type="dcterms:W3CDTF">2023-10-05T13:44:32Z</dcterms:modified>
</cp:coreProperties>
</file>